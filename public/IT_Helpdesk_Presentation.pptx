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evaluators. Welcome to the final presentation of our project: the Autonomous IT Helpdesk Assistant. This project addresses the massive operational overhead in enterprise IT support, where up to 70% of inbound tickets are routine, repetitive Tier-1 inquiries. Instead of treating a generic LLM as an ungrounded black box, we developed a 4-stage Agentic RAG and Decision Routing pipeline. Today, I will walk you through the system architecture, mathematical foundations, deterministic safety barriers, empirical benchmarks on 1,098 tickets, and verified business ROI.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our system is necessary, consider how IT support operates today. Employees wait hours for simple software permissions, while senior engineers waste time on basic password resets. When organizations attempt to solve this with off-the-shelf generative AI chatbots, they encounter severe risks: models hallucinate administrative commands, leak sensitive credentials, or worst of all, instruct an employee to plug in or poke a swollen laptop battery. Our project directly eliminates these liabilities.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decouples the problem into four dedicated agents orchestrated in a deterministic sequence. Before any LLM call, Stage 0 sanitizes PII and scans for physical hazards. Stage 1 classifies the technical domain and urgency. Stage 2 retrieves the top matching knowledge-base chunks in under one millisecond. Stage 3 synthesizes a grounded answer with live web citations. Finally, Stage 4 evaluates retrieval confidence against rigorous policy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engineering side, we built a production-grade full-stack application. The frontend uses React 19 and Tailwind CSS, featuring an auditable execution trace and real-time lifecycle tracking. The backend runs Node.js and Express. A major architectural highlight is our local in-memory vector index: instead of incurring high latency and recurring costs with an external cloud vector database, our system performs vector math directly in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the mathematical rigor behind our retrieval and classification engine. We faithfully implement scikit-learn standard TF-IDF vectorizer in TypeScript, expanding tokens into unigrams and bigrams. We apply smooth logarithmic IDF weighting and normalize all vectors under the Euclidean L2 norm. This allows cosine similarity to be computed as a simple dot product in sub-millisecond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the central architectural pillar of our system. In IT operations, providing a wrong or hazardous answer is far worse than taking an extra minute to route to a technician. Our Decision Agent executes a strict priority ladder: physical hazards immediately trigger emergency dispatch, while dual confidence thresholds protect users from low-confidence model hallucinations.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ticket qualifies for auto-resolution, Stage 3 generates the answer using Gemini 3.8 Flash. The prompt is strictly conditioned on the retrieved KB chunks. If the user asks about an emerging third-party outage—such as AWS or Slack—the backend leverages Google Search Grounding to pull the latest live status from the web, complete with clickable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RAG system is only as reliable as its knowledge base. We designed a modular chunking strategy where verbose SOPs are segmented into atomic 150 to 250 token chunks. This prevents semantic dilution, ensuring that queries for specific problems like BitLocker recovery or Zoom screen recording permissions retrieve the exact operational steps rather than generic policy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examine the empirical benchmark data. We rigorously tested our pipeline on 1,098 real-world and synthetic tickets. The system achieved a 74.1% autonomous deflection rate, successfully resolving 814 tickets with zero human intervention. Crucially, all 25 physical safety hazard tickets in the benchmark were intercepted by the safety rule with zero escapes.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technical benchmarks, this slide demonstrates the concrete business ROI. By auto-resolving 814 tickets, the system saved 271.3 hours of technician labor. In an enterprise of 500 to 1,000 employees, this equates to over $75,000 in direct labor savings each year, while Mean Time to Resolution dropped from over four hours to under one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invite you to view the live demonstration within our web application. In the console, you can test any custom query or select pre-packaged scenarios. When we submit a hardware hazard like a swollen battery, the console immediately flags the hazard in red, assigns the Escalated badge, and instructs the user to disconnect power in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demonstrates that Agentic RAG combined with deterministic policy routing provides the optimal balance of autonomous deflection speed, strict safety compliance, and auditability. By combining sub-millisecond local vector retrieval with Google Gemini 3.8 Flash, we achieved a 74.1% autonomous deflection rate with zero safety escapes.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32004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TITLE &amp; EXECUTIVE SUMMARY</a:t>
            </a:r>
            <a:endParaRPr lang="en-US" sz="1000" dirty="0"/>
          </a:p>
        </p:txBody>
      </p:sp>
      <p:sp>
        <p:nvSpPr>
          <p:cNvPr id="3" name="Text 1"/>
          <p:cNvSpPr/>
          <p:nvPr/>
        </p:nvSpPr>
        <p:spPr>
          <a:xfrm>
            <a:off x="731520" y="685800"/>
            <a:ext cx="1069848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Autonomous IT Helpdesk Assistant</a:t>
            </a:r>
            <a:endParaRPr lang="en-US" sz="2400" dirty="0"/>
          </a:p>
        </p:txBody>
      </p:sp>
      <p:sp>
        <p:nvSpPr>
          <p:cNvPr id="4" name="Text 2"/>
          <p:cNvSpPr/>
          <p:nvPr/>
        </p:nvSpPr>
        <p:spPr>
          <a:xfrm>
            <a:off x="731520" y="1234440"/>
            <a:ext cx="1069848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An Agentic RAG &amp; Decision Routing Architecture for Enterprise Support Ticket Deflection</a:t>
            </a:r>
            <a:endParaRPr lang="en-US" sz="1300" dirty="0"/>
          </a:p>
        </p:txBody>
      </p:sp>
      <p:sp>
        <p:nvSpPr>
          <p:cNvPr id="5" name="Shape 3"/>
          <p:cNvSpPr/>
          <p:nvPr/>
        </p:nvSpPr>
        <p:spPr>
          <a:xfrm>
            <a:off x="731520" y="1737360"/>
            <a:ext cx="7498080" cy="4572000"/>
          </a:xfrm>
          <a:prstGeom prst="rect">
            <a:avLst/>
          </a:prstGeom>
          <a:solidFill>
            <a:srgbClr val="FFFFFF"/>
          </a:solidFill>
          <a:ln w="12700">
            <a:solidFill>
              <a:srgbClr val="E2E8F0"/>
            </a:solidFill>
            <a:prstDash val="solid"/>
          </a:ln>
        </p:spPr>
      </p:sp>
      <p:sp>
        <p:nvSpPr>
          <p:cNvPr id="6" name="Text 4"/>
          <p:cNvSpPr/>
          <p:nvPr/>
        </p:nvSpPr>
        <p:spPr>
          <a:xfrm>
            <a:off x="1005840" y="1920240"/>
            <a:ext cx="6949440" cy="4114800"/>
          </a:xfrm>
          <a:prstGeom prst="rect">
            <a:avLst/>
          </a:prstGeom>
          <a:noFill/>
          <a:ln/>
        </p:spPr>
        <p:txBody>
          <a:bodyPr wrap="square" rtlCol="0" anchor="t"/>
          <a:lstStyle/>
          <a:p>
            <a:pPr marL="342900" indent="-342900">
              <a:buSzPct val="100000"/>
              <a:buChar char="•"/>
            </a:pPr>
            <a:r>
              <a:rPr lang="en-US" sz="1300" dirty="0">
                <a:solidFill>
                  <a:srgbClr val="1E293B"/>
                </a:solidFill>
                <a:latin typeface="Arial" pitchFamily="34" charset="0"/>
                <a:ea typeface="Arial" pitchFamily="34" charset="-122"/>
                <a:cs typeface="Arial" pitchFamily="34" charset="-120"/>
              </a:rPr>
              <a:t>Domain: Enterprise IT Service Management (ITSM), Agentic AI, and Retrieval-Augmented Generation (RAG).</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Core Innovation: 4-stage multi-agent pipeline pairing sub-millisecond local vector retrieval with grounded Gemini LLM generation and strict zero-tolerance hardware safety routing.</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Primary Objective: Deflect &gt;70% of repetitive Tier-1 IT support tickets (VPN, Okta, printer queues) while eliminating hallucinations.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Empirical Validation: Benchmarked on N=1,098 real-world Kaggle and enterprise tickets, achieving 74.1% deflection and 271.3 technician hours saved.</a:t>
            </a:r>
            <a:endParaRPr lang="en-US" sz="1300" dirty="0"/>
          </a:p>
        </p:txBody>
      </p:sp>
      <p:sp>
        <p:nvSpPr>
          <p:cNvPr id="7" name="Shape 5"/>
          <p:cNvSpPr/>
          <p:nvPr/>
        </p:nvSpPr>
        <p:spPr>
          <a:xfrm>
            <a:off x="8503920" y="1737360"/>
            <a:ext cx="2926080" cy="4572000"/>
          </a:xfrm>
          <a:prstGeom prst="rect">
            <a:avLst/>
          </a:prstGeom>
          <a:solidFill>
            <a:srgbClr val="FFFFFF"/>
          </a:solidFill>
          <a:ln w="12700">
            <a:solidFill>
              <a:srgbClr val="E2E8F0"/>
            </a:solidFill>
            <a:prstDash val="solid"/>
          </a:ln>
        </p:spPr>
      </p:sp>
      <p:sp>
        <p:nvSpPr>
          <p:cNvPr id="8" name="Text 6"/>
          <p:cNvSpPr/>
          <p:nvPr/>
        </p:nvSpPr>
        <p:spPr>
          <a:xfrm>
            <a:off x="8686800" y="1920240"/>
            <a:ext cx="256032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KEY METRICS &amp; HIGHLIGHTS</a:t>
            </a:r>
            <a:endParaRPr lang="en-US" sz="1000" dirty="0"/>
          </a:p>
        </p:txBody>
      </p:sp>
      <p:sp>
        <p:nvSpPr>
          <p:cNvPr id="9" name="Shape 7"/>
          <p:cNvSpPr/>
          <p:nvPr/>
        </p:nvSpPr>
        <p:spPr>
          <a:xfrm>
            <a:off x="8686800" y="2286000"/>
            <a:ext cx="2560320" cy="822960"/>
          </a:xfrm>
          <a:prstGeom prst="rect">
            <a:avLst/>
          </a:prstGeom>
          <a:solidFill>
            <a:srgbClr val="F1F5F9"/>
          </a:solidFill>
          <a:ln w="6350">
            <a:solidFill>
              <a:srgbClr val="CBD5E1"/>
            </a:solidFill>
            <a:prstDash val="solid"/>
          </a:ln>
        </p:spPr>
      </p:sp>
      <p:sp>
        <p:nvSpPr>
          <p:cNvPr id="10" name="Text 8"/>
          <p:cNvSpPr/>
          <p:nvPr/>
        </p:nvSpPr>
        <p:spPr>
          <a:xfrm>
            <a:off x="8823960" y="235915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74.1%</a:t>
            </a:r>
            <a:endParaRPr lang="en-US" sz="1500" dirty="0"/>
          </a:p>
        </p:txBody>
      </p:sp>
      <p:sp>
        <p:nvSpPr>
          <p:cNvPr id="11" name="Text 9"/>
          <p:cNvSpPr/>
          <p:nvPr/>
        </p:nvSpPr>
        <p:spPr>
          <a:xfrm>
            <a:off x="8823960" y="267004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Autonomous Deflection • 814 / 1,098 tickets</a:t>
            </a:r>
            <a:endParaRPr lang="en-US" sz="900" dirty="0"/>
          </a:p>
        </p:txBody>
      </p:sp>
      <p:sp>
        <p:nvSpPr>
          <p:cNvPr id="12" name="Shape 10"/>
          <p:cNvSpPr/>
          <p:nvPr/>
        </p:nvSpPr>
        <p:spPr>
          <a:xfrm>
            <a:off x="8686800" y="3246120"/>
            <a:ext cx="2560320" cy="822960"/>
          </a:xfrm>
          <a:prstGeom prst="rect">
            <a:avLst/>
          </a:prstGeom>
          <a:solidFill>
            <a:srgbClr val="F1F5F9"/>
          </a:solidFill>
          <a:ln w="6350">
            <a:solidFill>
              <a:srgbClr val="CBD5E1"/>
            </a:solidFill>
            <a:prstDash val="solid"/>
          </a:ln>
        </p:spPr>
      </p:sp>
      <p:sp>
        <p:nvSpPr>
          <p:cNvPr id="13" name="Text 11"/>
          <p:cNvSpPr/>
          <p:nvPr/>
        </p:nvSpPr>
        <p:spPr>
          <a:xfrm>
            <a:off x="8823960" y="331927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1,098</a:t>
            </a:r>
            <a:endParaRPr lang="en-US" sz="1500" dirty="0"/>
          </a:p>
        </p:txBody>
      </p:sp>
      <p:sp>
        <p:nvSpPr>
          <p:cNvPr id="14" name="Text 12"/>
          <p:cNvSpPr/>
          <p:nvPr/>
        </p:nvSpPr>
        <p:spPr>
          <a:xfrm>
            <a:off x="8823960" y="363016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Dataset Size • Kaggle + Enterprise</a:t>
            </a:r>
            <a:endParaRPr lang="en-US" sz="900" dirty="0"/>
          </a:p>
        </p:txBody>
      </p:sp>
      <p:sp>
        <p:nvSpPr>
          <p:cNvPr id="15" name="Shape 13"/>
          <p:cNvSpPr/>
          <p:nvPr/>
        </p:nvSpPr>
        <p:spPr>
          <a:xfrm>
            <a:off x="8686800" y="4206240"/>
            <a:ext cx="2560320" cy="822960"/>
          </a:xfrm>
          <a:prstGeom prst="rect">
            <a:avLst/>
          </a:prstGeom>
          <a:solidFill>
            <a:srgbClr val="F1F5F9"/>
          </a:solidFill>
          <a:ln w="6350">
            <a:solidFill>
              <a:srgbClr val="CBD5E1"/>
            </a:solidFill>
            <a:prstDash val="solid"/>
          </a:ln>
        </p:spPr>
      </p:sp>
      <p:sp>
        <p:nvSpPr>
          <p:cNvPr id="16" name="Text 14"/>
          <p:cNvSpPr/>
          <p:nvPr/>
        </p:nvSpPr>
        <p:spPr>
          <a:xfrm>
            <a:off x="8823960" y="427939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271.3 hrs</a:t>
            </a:r>
            <a:endParaRPr lang="en-US" sz="1500" dirty="0"/>
          </a:p>
        </p:txBody>
      </p:sp>
      <p:sp>
        <p:nvSpPr>
          <p:cNvPr id="17" name="Text 15"/>
          <p:cNvSpPr/>
          <p:nvPr/>
        </p:nvSpPr>
        <p:spPr>
          <a:xfrm>
            <a:off x="8823960" y="459028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Hours Saved • Technician labor</a:t>
            </a:r>
            <a:endParaRPr lang="en-US" sz="900" dirty="0"/>
          </a:p>
        </p:txBody>
      </p:sp>
      <p:sp>
        <p:nvSpPr>
          <p:cNvPr id="18" name="Shape 16"/>
          <p:cNvSpPr/>
          <p:nvPr/>
        </p:nvSpPr>
        <p:spPr>
          <a:xfrm>
            <a:off x="8686800" y="5166360"/>
            <a:ext cx="2560320" cy="822960"/>
          </a:xfrm>
          <a:prstGeom prst="rect">
            <a:avLst/>
          </a:prstGeom>
          <a:solidFill>
            <a:srgbClr val="F1F5F9"/>
          </a:solidFill>
          <a:ln w="6350">
            <a:solidFill>
              <a:srgbClr val="CBD5E1"/>
            </a:solidFill>
            <a:prstDash val="solid"/>
          </a:ln>
        </p:spPr>
      </p:sp>
      <p:sp>
        <p:nvSpPr>
          <p:cNvPr id="19" name="Text 17"/>
          <p:cNvSpPr/>
          <p:nvPr/>
        </p:nvSpPr>
        <p:spPr>
          <a:xfrm>
            <a:off x="8823960" y="523951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18.4 ms</a:t>
            </a:r>
            <a:endParaRPr lang="en-US" sz="1500" dirty="0"/>
          </a:p>
        </p:txBody>
      </p:sp>
      <p:sp>
        <p:nvSpPr>
          <p:cNvPr id="20" name="Text 18"/>
          <p:cNvSpPr/>
          <p:nvPr/>
        </p:nvSpPr>
        <p:spPr>
          <a:xfrm>
            <a:off x="8823960" y="555040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Avg Latency • Sub-second triage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32004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PROBLEM DEFINITION</a:t>
            </a:r>
            <a:endParaRPr lang="en-US" sz="1000" dirty="0"/>
          </a:p>
        </p:txBody>
      </p:sp>
      <p:sp>
        <p:nvSpPr>
          <p:cNvPr id="3" name="Text 1"/>
          <p:cNvSpPr/>
          <p:nvPr/>
        </p:nvSpPr>
        <p:spPr>
          <a:xfrm>
            <a:off x="731520" y="685800"/>
            <a:ext cx="1069848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Enterprise IT Support Challenges</a:t>
            </a:r>
            <a:endParaRPr lang="en-US" sz="2400" dirty="0"/>
          </a:p>
        </p:txBody>
      </p:sp>
      <p:sp>
        <p:nvSpPr>
          <p:cNvPr id="4" name="Text 2"/>
          <p:cNvSpPr/>
          <p:nvPr/>
        </p:nvSpPr>
        <p:spPr>
          <a:xfrm>
            <a:off x="731520" y="1234440"/>
            <a:ext cx="1069848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Why Conventional Helpdesks Fail and Naive Chatbots Create Risk</a:t>
            </a:r>
            <a:endParaRPr lang="en-US" sz="1300" dirty="0"/>
          </a:p>
        </p:txBody>
      </p:sp>
      <p:sp>
        <p:nvSpPr>
          <p:cNvPr id="5" name="Shape 3"/>
          <p:cNvSpPr/>
          <p:nvPr/>
        </p:nvSpPr>
        <p:spPr>
          <a:xfrm>
            <a:off x="731520" y="1737360"/>
            <a:ext cx="7498080" cy="4572000"/>
          </a:xfrm>
          <a:prstGeom prst="rect">
            <a:avLst/>
          </a:prstGeom>
          <a:solidFill>
            <a:srgbClr val="FFFFFF"/>
          </a:solidFill>
          <a:ln w="12700">
            <a:solidFill>
              <a:srgbClr val="E2E8F0"/>
            </a:solidFill>
            <a:prstDash val="solid"/>
          </a:ln>
        </p:spPr>
      </p:sp>
      <p:sp>
        <p:nvSpPr>
          <p:cNvPr id="6" name="Text 4"/>
          <p:cNvSpPr/>
          <p:nvPr/>
        </p:nvSpPr>
        <p:spPr>
          <a:xfrm>
            <a:off x="1005840" y="1920240"/>
            <a:ext cx="6949440" cy="4114800"/>
          </a:xfrm>
          <a:prstGeom prst="rect">
            <a:avLst/>
          </a:prstGeom>
          <a:noFill/>
          <a:ln/>
        </p:spPr>
        <p:txBody>
          <a:bodyPr wrap="square" rtlCol="0" anchor="t"/>
          <a:lstStyle/>
          <a:p>
            <a:pPr marL="342900" indent="-342900">
              <a:buSzPct val="100000"/>
              <a:buChar char="•"/>
            </a:pPr>
            <a:r>
              <a:rPr lang="en-US" sz="1300" dirty="0">
                <a:solidFill>
                  <a:srgbClr val="1E293B"/>
                </a:solidFill>
                <a:latin typeface="Arial" pitchFamily="34" charset="0"/>
                <a:ea typeface="Arial" pitchFamily="34" charset="-122"/>
                <a:cs typeface="Arial" pitchFamily="34" charset="-120"/>
              </a:rPr>
              <a:t>Ticket Volume Avalanche: Tier-1 issues (Okta lockouts, VPN drops, BitLocker recovery keys, print spooler hangs) consume 40% of engineering bandwidth.</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Prohibitive Costs: Industry benchmarks show manual Tier-1 resolution costs $15–$25 per incident with 4–24 hr queue times.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The Hallucination Danger: Generic LLMs invent non-existent commands and lack internal SOP knowledge.</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Zero-Tolerance Safety Liability: Off-the-shelf chatbots attempt to troubleshoot swollen batteries or smoking docks, creating catastrophic physical fire and injury risks.</a:t>
            </a:r>
            <a:endParaRPr lang="en-US" sz="1300" dirty="0"/>
          </a:p>
        </p:txBody>
      </p:sp>
      <p:sp>
        <p:nvSpPr>
          <p:cNvPr id="7" name="Shape 5"/>
          <p:cNvSpPr/>
          <p:nvPr/>
        </p:nvSpPr>
        <p:spPr>
          <a:xfrm>
            <a:off x="8503920" y="1737360"/>
            <a:ext cx="2926080" cy="4572000"/>
          </a:xfrm>
          <a:prstGeom prst="rect">
            <a:avLst/>
          </a:prstGeom>
          <a:solidFill>
            <a:srgbClr val="FFFFFF"/>
          </a:solidFill>
          <a:ln w="12700">
            <a:solidFill>
              <a:srgbClr val="E2E8F0"/>
            </a:solidFill>
            <a:prstDash val="solid"/>
          </a:ln>
        </p:spPr>
      </p:sp>
      <p:sp>
        <p:nvSpPr>
          <p:cNvPr id="8" name="Text 6"/>
          <p:cNvSpPr/>
          <p:nvPr/>
        </p:nvSpPr>
        <p:spPr>
          <a:xfrm>
            <a:off x="8686800" y="1920240"/>
            <a:ext cx="256032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KEY METRICS &amp; HIGHLIGHTS</a:t>
            </a:r>
            <a:endParaRPr lang="en-US" sz="1000" dirty="0"/>
          </a:p>
        </p:txBody>
      </p:sp>
      <p:sp>
        <p:nvSpPr>
          <p:cNvPr id="9" name="Shape 7"/>
          <p:cNvSpPr/>
          <p:nvPr/>
        </p:nvSpPr>
        <p:spPr>
          <a:xfrm>
            <a:off x="8686800" y="2286000"/>
            <a:ext cx="2560320" cy="822960"/>
          </a:xfrm>
          <a:prstGeom prst="rect">
            <a:avLst/>
          </a:prstGeom>
          <a:solidFill>
            <a:srgbClr val="F1F5F9"/>
          </a:solidFill>
          <a:ln w="6350">
            <a:solidFill>
              <a:srgbClr val="CBD5E1"/>
            </a:solidFill>
            <a:prstDash val="solid"/>
          </a:ln>
        </p:spPr>
      </p:sp>
      <p:sp>
        <p:nvSpPr>
          <p:cNvPr id="10" name="Text 8"/>
          <p:cNvSpPr/>
          <p:nvPr/>
        </p:nvSpPr>
        <p:spPr>
          <a:xfrm>
            <a:off x="8823960" y="235915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$20/ticket</a:t>
            </a:r>
            <a:endParaRPr lang="en-US" sz="1500" dirty="0"/>
          </a:p>
        </p:txBody>
      </p:sp>
      <p:sp>
        <p:nvSpPr>
          <p:cNvPr id="11" name="Text 9"/>
          <p:cNvSpPr/>
          <p:nvPr/>
        </p:nvSpPr>
        <p:spPr>
          <a:xfrm>
            <a:off x="8823960" y="267004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Avg Manual Cost • Industry standard</a:t>
            </a:r>
            <a:endParaRPr lang="en-US" sz="900" dirty="0"/>
          </a:p>
        </p:txBody>
      </p:sp>
      <p:sp>
        <p:nvSpPr>
          <p:cNvPr id="12" name="Shape 10"/>
          <p:cNvSpPr/>
          <p:nvPr/>
        </p:nvSpPr>
        <p:spPr>
          <a:xfrm>
            <a:off x="8686800" y="3246120"/>
            <a:ext cx="2560320" cy="822960"/>
          </a:xfrm>
          <a:prstGeom prst="rect">
            <a:avLst/>
          </a:prstGeom>
          <a:solidFill>
            <a:srgbClr val="F1F5F9"/>
          </a:solidFill>
          <a:ln w="6350">
            <a:solidFill>
              <a:srgbClr val="CBD5E1"/>
            </a:solidFill>
            <a:prstDash val="solid"/>
          </a:ln>
        </p:spPr>
      </p:sp>
      <p:sp>
        <p:nvSpPr>
          <p:cNvPr id="13" name="Text 11"/>
          <p:cNvSpPr/>
          <p:nvPr/>
        </p:nvSpPr>
        <p:spPr>
          <a:xfrm>
            <a:off x="8823960" y="331927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4.2 hrs</a:t>
            </a:r>
            <a:endParaRPr lang="en-US" sz="1500" dirty="0"/>
          </a:p>
        </p:txBody>
      </p:sp>
      <p:sp>
        <p:nvSpPr>
          <p:cNvPr id="14" name="Text 12"/>
          <p:cNvSpPr/>
          <p:nvPr/>
        </p:nvSpPr>
        <p:spPr>
          <a:xfrm>
            <a:off x="8823960" y="363016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Typical MTTR • Manual queue time</a:t>
            </a:r>
            <a:endParaRPr lang="en-US" sz="900" dirty="0"/>
          </a:p>
        </p:txBody>
      </p:sp>
      <p:sp>
        <p:nvSpPr>
          <p:cNvPr id="15" name="Shape 13"/>
          <p:cNvSpPr/>
          <p:nvPr/>
        </p:nvSpPr>
        <p:spPr>
          <a:xfrm>
            <a:off x="8686800" y="4206240"/>
            <a:ext cx="2560320" cy="822960"/>
          </a:xfrm>
          <a:prstGeom prst="rect">
            <a:avLst/>
          </a:prstGeom>
          <a:solidFill>
            <a:srgbClr val="F1F5F9"/>
          </a:solidFill>
          <a:ln w="6350">
            <a:solidFill>
              <a:srgbClr val="CBD5E1"/>
            </a:solidFill>
            <a:prstDash val="solid"/>
          </a:ln>
        </p:spPr>
      </p:sp>
      <p:sp>
        <p:nvSpPr>
          <p:cNvPr id="16" name="Text 14"/>
          <p:cNvSpPr/>
          <p:nvPr/>
        </p:nvSpPr>
        <p:spPr>
          <a:xfrm>
            <a:off x="8823960" y="427939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65-70%</a:t>
            </a:r>
            <a:endParaRPr lang="en-US" sz="1500" dirty="0"/>
          </a:p>
        </p:txBody>
      </p:sp>
      <p:sp>
        <p:nvSpPr>
          <p:cNvPr id="17" name="Text 15"/>
          <p:cNvSpPr/>
          <p:nvPr/>
        </p:nvSpPr>
        <p:spPr>
          <a:xfrm>
            <a:off x="8823960" y="459028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Repetitive Ratio • Tier-1 routine volume</a:t>
            </a:r>
            <a:endParaRPr lang="en-US" sz="900" dirty="0"/>
          </a:p>
        </p:txBody>
      </p:sp>
      <p:sp>
        <p:nvSpPr>
          <p:cNvPr id="18" name="Shape 16"/>
          <p:cNvSpPr/>
          <p:nvPr/>
        </p:nvSpPr>
        <p:spPr>
          <a:xfrm>
            <a:off x="8686800" y="5166360"/>
            <a:ext cx="2560320" cy="822960"/>
          </a:xfrm>
          <a:prstGeom prst="rect">
            <a:avLst/>
          </a:prstGeom>
          <a:solidFill>
            <a:srgbClr val="F1F5F9"/>
          </a:solidFill>
          <a:ln w="6350">
            <a:solidFill>
              <a:srgbClr val="CBD5E1"/>
            </a:solidFill>
            <a:prstDash val="solid"/>
          </a:ln>
        </p:spPr>
      </p:sp>
      <p:sp>
        <p:nvSpPr>
          <p:cNvPr id="19" name="Text 17"/>
          <p:cNvSpPr/>
          <p:nvPr/>
        </p:nvSpPr>
        <p:spPr>
          <a:xfrm>
            <a:off x="8823960" y="523951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0%</a:t>
            </a:r>
            <a:endParaRPr lang="en-US" sz="1500" dirty="0"/>
          </a:p>
        </p:txBody>
      </p:sp>
      <p:sp>
        <p:nvSpPr>
          <p:cNvPr id="20" name="Text 18"/>
          <p:cNvSpPr/>
          <p:nvPr/>
        </p:nvSpPr>
        <p:spPr>
          <a:xfrm>
            <a:off x="8823960" y="555040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Safety Tolerance • Zero hazard escapes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32004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ARCHITECTURE SOLUTION</a:t>
            </a:r>
            <a:endParaRPr lang="en-US" sz="1000" dirty="0"/>
          </a:p>
        </p:txBody>
      </p:sp>
      <p:sp>
        <p:nvSpPr>
          <p:cNvPr id="3" name="Text 1"/>
          <p:cNvSpPr/>
          <p:nvPr/>
        </p:nvSpPr>
        <p:spPr>
          <a:xfrm>
            <a:off x="731520" y="685800"/>
            <a:ext cx="1069848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The 4-Stage Agentic RAG Architecture</a:t>
            </a:r>
            <a:endParaRPr lang="en-US" sz="2400" dirty="0"/>
          </a:p>
        </p:txBody>
      </p:sp>
      <p:sp>
        <p:nvSpPr>
          <p:cNvPr id="4" name="Text 2"/>
          <p:cNvSpPr/>
          <p:nvPr/>
        </p:nvSpPr>
        <p:spPr>
          <a:xfrm>
            <a:off x="731520" y="1234440"/>
            <a:ext cx="1069848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Decoupled Multi-Agent Workflow with Human-in-the-Loop Safeguards</a:t>
            </a:r>
            <a:endParaRPr lang="en-US" sz="1300" dirty="0"/>
          </a:p>
        </p:txBody>
      </p:sp>
      <p:sp>
        <p:nvSpPr>
          <p:cNvPr id="5" name="Shape 3"/>
          <p:cNvSpPr/>
          <p:nvPr/>
        </p:nvSpPr>
        <p:spPr>
          <a:xfrm>
            <a:off x="731520" y="1737360"/>
            <a:ext cx="7498080" cy="4572000"/>
          </a:xfrm>
          <a:prstGeom prst="rect">
            <a:avLst/>
          </a:prstGeom>
          <a:solidFill>
            <a:srgbClr val="FFFFFF"/>
          </a:solidFill>
          <a:ln w="12700">
            <a:solidFill>
              <a:srgbClr val="E2E8F0"/>
            </a:solidFill>
            <a:prstDash val="solid"/>
          </a:ln>
        </p:spPr>
      </p:sp>
      <p:sp>
        <p:nvSpPr>
          <p:cNvPr id="6" name="Text 4"/>
          <p:cNvSpPr/>
          <p:nvPr/>
        </p:nvSpPr>
        <p:spPr>
          <a:xfrm>
            <a:off x="1005840" y="1920240"/>
            <a:ext cx="6949440" cy="4114800"/>
          </a:xfrm>
          <a:prstGeom prst="rect">
            <a:avLst/>
          </a:prstGeom>
          <a:noFill/>
          <a:ln/>
        </p:spPr>
        <p:txBody>
          <a:bodyPr wrap="square" rtlCol="0" anchor="t"/>
          <a:lstStyle/>
          <a:p>
            <a:pPr marL="342900" indent="-342900">
              <a:buSzPct val="100000"/>
              <a:buChar char="•"/>
            </a:pPr>
            <a:r>
              <a:rPr lang="en-US" sz="1300" dirty="0">
                <a:solidFill>
                  <a:srgbClr val="1E293B"/>
                </a:solidFill>
                <a:latin typeface="Arial" pitchFamily="34" charset="0"/>
                <a:ea typeface="Arial" pitchFamily="34" charset="-122"/>
                <a:cs typeface="Arial" pitchFamily="34" charset="-120"/>
              </a:rPr>
              <a:t>Stage 0 — Privacy &amp; Safety Interception: PII masking (emails, secrets, IPs) + instant regex hardware hazard scanner.</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Stage 1 — Classification Agent: Predicts domain category across 7 centroids + evaluates urgency (High, Med, Low).</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Stage 2 — Precision Hybrid Retriever: Sub-millisecond TF-IDF vector search with domain keyword boosting over atomic KB chunks.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Stage 3 — Grounded Answer Synthesis: Gemini 3.8 Flash conditioned strictly on retrieved KB chunks + Google Search grounding.</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Stage 4 — Decision Policy Agent: Final gating evaluation using dual confidence thresholds (0.15 base, 0.30 urgent) and safety rules.</a:t>
            </a:r>
            <a:endParaRPr lang="en-US" sz="1300" dirty="0"/>
          </a:p>
        </p:txBody>
      </p:sp>
      <p:sp>
        <p:nvSpPr>
          <p:cNvPr id="7" name="Shape 5"/>
          <p:cNvSpPr/>
          <p:nvPr/>
        </p:nvSpPr>
        <p:spPr>
          <a:xfrm>
            <a:off x="8503920" y="1737360"/>
            <a:ext cx="2926080" cy="4572000"/>
          </a:xfrm>
          <a:prstGeom prst="rect">
            <a:avLst/>
          </a:prstGeom>
          <a:solidFill>
            <a:srgbClr val="FFFFFF"/>
          </a:solidFill>
          <a:ln w="12700">
            <a:solidFill>
              <a:srgbClr val="E2E8F0"/>
            </a:solidFill>
            <a:prstDash val="solid"/>
          </a:ln>
        </p:spPr>
      </p:sp>
      <p:sp>
        <p:nvSpPr>
          <p:cNvPr id="8" name="Text 6"/>
          <p:cNvSpPr/>
          <p:nvPr/>
        </p:nvSpPr>
        <p:spPr>
          <a:xfrm>
            <a:off x="8686800" y="1920240"/>
            <a:ext cx="256032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KEY METRICS &amp; HIGHLIGHTS</a:t>
            </a:r>
            <a:endParaRPr lang="en-US" sz="1000" dirty="0"/>
          </a:p>
        </p:txBody>
      </p:sp>
      <p:sp>
        <p:nvSpPr>
          <p:cNvPr id="9" name="Shape 7"/>
          <p:cNvSpPr/>
          <p:nvPr/>
        </p:nvSpPr>
        <p:spPr>
          <a:xfrm>
            <a:off x="8686800" y="2286000"/>
            <a:ext cx="2560320" cy="822960"/>
          </a:xfrm>
          <a:prstGeom prst="rect">
            <a:avLst/>
          </a:prstGeom>
          <a:solidFill>
            <a:srgbClr val="F1F5F9"/>
          </a:solidFill>
          <a:ln w="6350">
            <a:solidFill>
              <a:srgbClr val="CBD5E1"/>
            </a:solidFill>
            <a:prstDash val="solid"/>
          </a:ln>
        </p:spPr>
      </p:sp>
      <p:sp>
        <p:nvSpPr>
          <p:cNvPr id="10" name="Text 8"/>
          <p:cNvSpPr/>
          <p:nvPr/>
        </p:nvSpPr>
        <p:spPr>
          <a:xfrm>
            <a:off x="8823960" y="235915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PII &amp; Safety</a:t>
            </a:r>
            <a:endParaRPr lang="en-US" sz="1500" dirty="0"/>
          </a:p>
        </p:txBody>
      </p:sp>
      <p:sp>
        <p:nvSpPr>
          <p:cNvPr id="11" name="Text 9"/>
          <p:cNvSpPr/>
          <p:nvPr/>
        </p:nvSpPr>
        <p:spPr>
          <a:xfrm>
            <a:off x="8823960" y="267004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Stage 0 • Sub-millisecond regex</a:t>
            </a:r>
            <a:endParaRPr lang="en-US" sz="900" dirty="0"/>
          </a:p>
        </p:txBody>
      </p:sp>
      <p:sp>
        <p:nvSpPr>
          <p:cNvPr id="12" name="Shape 10"/>
          <p:cNvSpPr/>
          <p:nvPr/>
        </p:nvSpPr>
        <p:spPr>
          <a:xfrm>
            <a:off x="8686800" y="3246120"/>
            <a:ext cx="2560320" cy="822960"/>
          </a:xfrm>
          <a:prstGeom prst="rect">
            <a:avLst/>
          </a:prstGeom>
          <a:solidFill>
            <a:srgbClr val="F1F5F9"/>
          </a:solidFill>
          <a:ln w="6350">
            <a:solidFill>
              <a:srgbClr val="CBD5E1"/>
            </a:solidFill>
            <a:prstDash val="solid"/>
          </a:ln>
        </p:spPr>
      </p:sp>
      <p:sp>
        <p:nvSpPr>
          <p:cNvPr id="13" name="Text 11"/>
          <p:cNvSpPr/>
          <p:nvPr/>
        </p:nvSpPr>
        <p:spPr>
          <a:xfrm>
            <a:off x="8823960" y="331927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Centroid Class</a:t>
            </a:r>
            <a:endParaRPr lang="en-US" sz="1500" dirty="0"/>
          </a:p>
        </p:txBody>
      </p:sp>
      <p:sp>
        <p:nvSpPr>
          <p:cNvPr id="14" name="Text 12"/>
          <p:cNvSpPr/>
          <p:nvPr/>
        </p:nvSpPr>
        <p:spPr>
          <a:xfrm>
            <a:off x="8823960" y="363016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Stage 1 • 7 IT domain clusters</a:t>
            </a:r>
            <a:endParaRPr lang="en-US" sz="900" dirty="0"/>
          </a:p>
        </p:txBody>
      </p:sp>
      <p:sp>
        <p:nvSpPr>
          <p:cNvPr id="15" name="Shape 13"/>
          <p:cNvSpPr/>
          <p:nvPr/>
        </p:nvSpPr>
        <p:spPr>
          <a:xfrm>
            <a:off x="8686800" y="4206240"/>
            <a:ext cx="2560320" cy="822960"/>
          </a:xfrm>
          <a:prstGeom prst="rect">
            <a:avLst/>
          </a:prstGeom>
          <a:solidFill>
            <a:srgbClr val="F1F5F9"/>
          </a:solidFill>
          <a:ln w="6350">
            <a:solidFill>
              <a:srgbClr val="CBD5E1"/>
            </a:solidFill>
            <a:prstDash val="solid"/>
          </a:ln>
        </p:spPr>
      </p:sp>
      <p:sp>
        <p:nvSpPr>
          <p:cNvPr id="16" name="Text 14"/>
          <p:cNvSpPr/>
          <p:nvPr/>
        </p:nvSpPr>
        <p:spPr>
          <a:xfrm>
            <a:off x="8823960" y="427939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Vector Match</a:t>
            </a:r>
            <a:endParaRPr lang="en-US" sz="1500" dirty="0"/>
          </a:p>
        </p:txBody>
      </p:sp>
      <p:sp>
        <p:nvSpPr>
          <p:cNvPr id="17" name="Text 15"/>
          <p:cNvSpPr/>
          <p:nvPr/>
        </p:nvSpPr>
        <p:spPr>
          <a:xfrm>
            <a:off x="8823960" y="459028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Stage 2 • TF-IDF + Cosine dot</a:t>
            </a:r>
            <a:endParaRPr lang="en-US" sz="900" dirty="0"/>
          </a:p>
        </p:txBody>
      </p:sp>
      <p:sp>
        <p:nvSpPr>
          <p:cNvPr id="18" name="Shape 16"/>
          <p:cNvSpPr/>
          <p:nvPr/>
        </p:nvSpPr>
        <p:spPr>
          <a:xfrm>
            <a:off x="8686800" y="5166360"/>
            <a:ext cx="2560320" cy="822960"/>
          </a:xfrm>
          <a:prstGeom prst="rect">
            <a:avLst/>
          </a:prstGeom>
          <a:solidFill>
            <a:srgbClr val="F1F5F9"/>
          </a:solidFill>
          <a:ln w="6350">
            <a:solidFill>
              <a:srgbClr val="CBD5E1"/>
            </a:solidFill>
            <a:prstDash val="solid"/>
          </a:ln>
        </p:spPr>
      </p:sp>
      <p:sp>
        <p:nvSpPr>
          <p:cNvPr id="19" name="Text 17"/>
          <p:cNvSpPr/>
          <p:nvPr/>
        </p:nvSpPr>
        <p:spPr>
          <a:xfrm>
            <a:off x="8823960" y="523951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Policy Gating</a:t>
            </a:r>
            <a:endParaRPr lang="en-US" sz="1500" dirty="0"/>
          </a:p>
        </p:txBody>
      </p:sp>
      <p:sp>
        <p:nvSpPr>
          <p:cNvPr id="20" name="Text 18"/>
          <p:cNvSpPr/>
          <p:nvPr/>
        </p:nvSpPr>
        <p:spPr>
          <a:xfrm>
            <a:off x="8823960" y="555040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Stage 4 • Dual threshold gate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32004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SYSTEM ENGINEERING</a:t>
            </a:r>
            <a:endParaRPr lang="en-US" sz="1000" dirty="0"/>
          </a:p>
        </p:txBody>
      </p:sp>
      <p:sp>
        <p:nvSpPr>
          <p:cNvPr id="3" name="Text 1"/>
          <p:cNvSpPr/>
          <p:nvPr/>
        </p:nvSpPr>
        <p:spPr>
          <a:xfrm>
            <a:off x="731520" y="685800"/>
            <a:ext cx="1069848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Full-Stack Architecture &amp; Runtime Specifications</a:t>
            </a:r>
            <a:endParaRPr lang="en-US" sz="2400" dirty="0"/>
          </a:p>
        </p:txBody>
      </p:sp>
      <p:sp>
        <p:nvSpPr>
          <p:cNvPr id="4" name="Text 2"/>
          <p:cNvSpPr/>
          <p:nvPr/>
        </p:nvSpPr>
        <p:spPr>
          <a:xfrm>
            <a:off x="731520" y="1234440"/>
            <a:ext cx="1069848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Modern Web Technologies Combined with Low-Latency Local Vectorization</a:t>
            </a:r>
            <a:endParaRPr lang="en-US" sz="1300" dirty="0"/>
          </a:p>
        </p:txBody>
      </p:sp>
      <p:sp>
        <p:nvSpPr>
          <p:cNvPr id="5" name="Shape 3"/>
          <p:cNvSpPr/>
          <p:nvPr/>
        </p:nvSpPr>
        <p:spPr>
          <a:xfrm>
            <a:off x="731520" y="1737360"/>
            <a:ext cx="7498080" cy="4572000"/>
          </a:xfrm>
          <a:prstGeom prst="rect">
            <a:avLst/>
          </a:prstGeom>
          <a:solidFill>
            <a:srgbClr val="FFFFFF"/>
          </a:solidFill>
          <a:ln w="12700">
            <a:solidFill>
              <a:srgbClr val="E2E8F0"/>
            </a:solidFill>
            <a:prstDash val="solid"/>
          </a:ln>
        </p:spPr>
      </p:sp>
      <p:sp>
        <p:nvSpPr>
          <p:cNvPr id="6" name="Text 4"/>
          <p:cNvSpPr/>
          <p:nvPr/>
        </p:nvSpPr>
        <p:spPr>
          <a:xfrm>
            <a:off x="1005840" y="1920240"/>
            <a:ext cx="6949440" cy="4114800"/>
          </a:xfrm>
          <a:prstGeom prst="rect">
            <a:avLst/>
          </a:prstGeom>
          <a:noFill/>
          <a:ln/>
        </p:spPr>
        <p:txBody>
          <a:bodyPr wrap="square" rtlCol="0" anchor="t"/>
          <a:lstStyle/>
          <a:p>
            <a:pPr marL="342900" indent="-342900">
              <a:buSzPct val="100000"/>
              <a:buChar char="•"/>
            </a:pPr>
            <a:r>
              <a:rPr lang="en-US" sz="1300" dirty="0">
                <a:solidFill>
                  <a:srgbClr val="1E293B"/>
                </a:solidFill>
                <a:latin typeface="Arial" pitchFamily="34" charset="0"/>
                <a:ea typeface="Arial" pitchFamily="34" charset="-122"/>
                <a:cs typeface="Arial" pitchFamily="34" charset="-120"/>
              </a:rPr>
              <a:t>Client Application: Built with React 19, TypeScript, Tailwind CSS, Motion animations, and Recharts telemetry.</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Server Application: Node.js &amp; Express 4.21 backend server with lazy-initialized Google GenAI SDK (@google/genai).</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Local Vector Engine: In-memory TF-IDF index executing cosine similarity searches in &lt;1 millisecond without cloud vector DB costs.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Resilience &amp; Graceful Fallback: If network connectivity drops or API quotas exhaust, the system seamlessly falls back to extractive template synthesis.</a:t>
            </a:r>
            <a:endParaRPr lang="en-US" sz="1300" dirty="0"/>
          </a:p>
        </p:txBody>
      </p:sp>
      <p:sp>
        <p:nvSpPr>
          <p:cNvPr id="7" name="Shape 5"/>
          <p:cNvSpPr/>
          <p:nvPr/>
        </p:nvSpPr>
        <p:spPr>
          <a:xfrm>
            <a:off x="8503920" y="1737360"/>
            <a:ext cx="2926080" cy="4572000"/>
          </a:xfrm>
          <a:prstGeom prst="rect">
            <a:avLst/>
          </a:prstGeom>
          <a:solidFill>
            <a:srgbClr val="FFFFFF"/>
          </a:solidFill>
          <a:ln w="12700">
            <a:solidFill>
              <a:srgbClr val="E2E8F0"/>
            </a:solidFill>
            <a:prstDash val="solid"/>
          </a:ln>
        </p:spPr>
      </p:sp>
      <p:sp>
        <p:nvSpPr>
          <p:cNvPr id="8" name="Text 6"/>
          <p:cNvSpPr/>
          <p:nvPr/>
        </p:nvSpPr>
        <p:spPr>
          <a:xfrm>
            <a:off x="8686800" y="1920240"/>
            <a:ext cx="256032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KEY METRICS &amp; HIGHLIGHTS</a:t>
            </a:r>
            <a:endParaRPr lang="en-US" sz="1000" dirty="0"/>
          </a:p>
        </p:txBody>
      </p:sp>
      <p:sp>
        <p:nvSpPr>
          <p:cNvPr id="9" name="Shape 7"/>
          <p:cNvSpPr/>
          <p:nvPr/>
        </p:nvSpPr>
        <p:spPr>
          <a:xfrm>
            <a:off x="8686800" y="2286000"/>
            <a:ext cx="2560320" cy="822960"/>
          </a:xfrm>
          <a:prstGeom prst="rect">
            <a:avLst/>
          </a:prstGeom>
          <a:solidFill>
            <a:srgbClr val="F1F5F9"/>
          </a:solidFill>
          <a:ln w="6350">
            <a:solidFill>
              <a:srgbClr val="CBD5E1"/>
            </a:solidFill>
            <a:prstDash val="solid"/>
          </a:ln>
        </p:spPr>
      </p:sp>
      <p:sp>
        <p:nvSpPr>
          <p:cNvPr id="10" name="Text 8"/>
          <p:cNvSpPr/>
          <p:nvPr/>
        </p:nvSpPr>
        <p:spPr>
          <a:xfrm>
            <a:off x="8823960" y="235915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React 19</a:t>
            </a:r>
            <a:endParaRPr lang="en-US" sz="1500" dirty="0"/>
          </a:p>
        </p:txBody>
      </p:sp>
      <p:sp>
        <p:nvSpPr>
          <p:cNvPr id="11" name="Text 9"/>
          <p:cNvSpPr/>
          <p:nvPr/>
        </p:nvSpPr>
        <p:spPr>
          <a:xfrm>
            <a:off x="8823960" y="267004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UI Framework • TypeScript + Tailwind</a:t>
            </a:r>
            <a:endParaRPr lang="en-US" sz="900" dirty="0"/>
          </a:p>
        </p:txBody>
      </p:sp>
      <p:sp>
        <p:nvSpPr>
          <p:cNvPr id="12" name="Shape 10"/>
          <p:cNvSpPr/>
          <p:nvPr/>
        </p:nvSpPr>
        <p:spPr>
          <a:xfrm>
            <a:off x="8686800" y="3246120"/>
            <a:ext cx="2560320" cy="822960"/>
          </a:xfrm>
          <a:prstGeom prst="rect">
            <a:avLst/>
          </a:prstGeom>
          <a:solidFill>
            <a:srgbClr val="F1F5F9"/>
          </a:solidFill>
          <a:ln w="6350">
            <a:solidFill>
              <a:srgbClr val="CBD5E1"/>
            </a:solidFill>
            <a:prstDash val="solid"/>
          </a:ln>
        </p:spPr>
      </p:sp>
      <p:sp>
        <p:nvSpPr>
          <p:cNvPr id="13" name="Text 11"/>
          <p:cNvSpPr/>
          <p:nvPr/>
        </p:nvSpPr>
        <p:spPr>
          <a:xfrm>
            <a:off x="8823960" y="331927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Express 4.21</a:t>
            </a:r>
            <a:endParaRPr lang="en-US" sz="1500" dirty="0"/>
          </a:p>
        </p:txBody>
      </p:sp>
      <p:sp>
        <p:nvSpPr>
          <p:cNvPr id="14" name="Text 12"/>
          <p:cNvSpPr/>
          <p:nvPr/>
        </p:nvSpPr>
        <p:spPr>
          <a:xfrm>
            <a:off x="8823960" y="363016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Server Runtime • Node.js proxy tier</a:t>
            </a:r>
            <a:endParaRPr lang="en-US" sz="900" dirty="0"/>
          </a:p>
        </p:txBody>
      </p:sp>
      <p:sp>
        <p:nvSpPr>
          <p:cNvPr id="15" name="Shape 13"/>
          <p:cNvSpPr/>
          <p:nvPr/>
        </p:nvSpPr>
        <p:spPr>
          <a:xfrm>
            <a:off x="8686800" y="4206240"/>
            <a:ext cx="2560320" cy="822960"/>
          </a:xfrm>
          <a:prstGeom prst="rect">
            <a:avLst/>
          </a:prstGeom>
          <a:solidFill>
            <a:srgbClr val="F1F5F9"/>
          </a:solidFill>
          <a:ln w="6350">
            <a:solidFill>
              <a:srgbClr val="CBD5E1"/>
            </a:solidFill>
            <a:prstDash val="solid"/>
          </a:ln>
        </p:spPr>
      </p:sp>
      <p:sp>
        <p:nvSpPr>
          <p:cNvPr id="16" name="Text 14"/>
          <p:cNvSpPr/>
          <p:nvPr/>
        </p:nvSpPr>
        <p:spPr>
          <a:xfrm>
            <a:off x="8823960" y="427939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In-Memory</a:t>
            </a:r>
            <a:endParaRPr lang="en-US" sz="1500" dirty="0"/>
          </a:p>
        </p:txBody>
      </p:sp>
      <p:sp>
        <p:nvSpPr>
          <p:cNvPr id="17" name="Text 15"/>
          <p:cNvSpPr/>
          <p:nvPr/>
        </p:nvSpPr>
        <p:spPr>
          <a:xfrm>
            <a:off x="8823960" y="459028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Vector Storage • Sub-1ms retrieval</a:t>
            </a:r>
            <a:endParaRPr lang="en-US" sz="900" dirty="0"/>
          </a:p>
        </p:txBody>
      </p:sp>
      <p:sp>
        <p:nvSpPr>
          <p:cNvPr id="18" name="Shape 16"/>
          <p:cNvSpPr/>
          <p:nvPr/>
        </p:nvSpPr>
        <p:spPr>
          <a:xfrm>
            <a:off x="8686800" y="5166360"/>
            <a:ext cx="2560320" cy="822960"/>
          </a:xfrm>
          <a:prstGeom prst="rect">
            <a:avLst/>
          </a:prstGeom>
          <a:solidFill>
            <a:srgbClr val="F1F5F9"/>
          </a:solidFill>
          <a:ln w="6350">
            <a:solidFill>
              <a:srgbClr val="CBD5E1"/>
            </a:solidFill>
            <a:prstDash val="solid"/>
          </a:ln>
        </p:spPr>
      </p:sp>
      <p:sp>
        <p:nvSpPr>
          <p:cNvPr id="19" name="Text 17"/>
          <p:cNvSpPr/>
          <p:nvPr/>
        </p:nvSpPr>
        <p:spPr>
          <a:xfrm>
            <a:off x="8823960" y="523951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Gemini 3.8</a:t>
            </a:r>
            <a:endParaRPr lang="en-US" sz="1500" dirty="0"/>
          </a:p>
        </p:txBody>
      </p:sp>
      <p:sp>
        <p:nvSpPr>
          <p:cNvPr id="20" name="Text 18"/>
          <p:cNvSpPr/>
          <p:nvPr/>
        </p:nvSpPr>
        <p:spPr>
          <a:xfrm>
            <a:off x="8823960" y="555040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GenAI Model • With Google Search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32004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CORE ALGORITHMS</a:t>
            </a:r>
            <a:endParaRPr lang="en-US" sz="1000" dirty="0"/>
          </a:p>
        </p:txBody>
      </p:sp>
      <p:sp>
        <p:nvSpPr>
          <p:cNvPr id="3" name="Text 1"/>
          <p:cNvSpPr/>
          <p:nvPr/>
        </p:nvSpPr>
        <p:spPr>
          <a:xfrm>
            <a:off x="731520" y="685800"/>
            <a:ext cx="1069848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Mathematical Formulation &amp; Vector Retrieval</a:t>
            </a:r>
            <a:endParaRPr lang="en-US" sz="2400" dirty="0"/>
          </a:p>
        </p:txBody>
      </p:sp>
      <p:sp>
        <p:nvSpPr>
          <p:cNvPr id="4" name="Text 2"/>
          <p:cNvSpPr/>
          <p:nvPr/>
        </p:nvSpPr>
        <p:spPr>
          <a:xfrm>
            <a:off x="731520" y="1234440"/>
            <a:ext cx="1069848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N-Gram TF-IDF, Smooth IDF Weighting, and Centroid Cosine Similarity</a:t>
            </a:r>
            <a:endParaRPr lang="en-US" sz="1300" dirty="0"/>
          </a:p>
        </p:txBody>
      </p:sp>
      <p:sp>
        <p:nvSpPr>
          <p:cNvPr id="5" name="Shape 3"/>
          <p:cNvSpPr/>
          <p:nvPr/>
        </p:nvSpPr>
        <p:spPr>
          <a:xfrm>
            <a:off x="731520" y="1737360"/>
            <a:ext cx="7498080" cy="4572000"/>
          </a:xfrm>
          <a:prstGeom prst="rect">
            <a:avLst/>
          </a:prstGeom>
          <a:solidFill>
            <a:srgbClr val="FFFFFF"/>
          </a:solidFill>
          <a:ln w="12700">
            <a:solidFill>
              <a:srgbClr val="E2E8F0"/>
            </a:solidFill>
            <a:prstDash val="solid"/>
          </a:ln>
        </p:spPr>
      </p:sp>
      <p:sp>
        <p:nvSpPr>
          <p:cNvPr id="6" name="Text 4"/>
          <p:cNvSpPr/>
          <p:nvPr/>
        </p:nvSpPr>
        <p:spPr>
          <a:xfrm>
            <a:off x="1005840" y="1920240"/>
            <a:ext cx="6949440" cy="4114800"/>
          </a:xfrm>
          <a:prstGeom prst="rect">
            <a:avLst/>
          </a:prstGeom>
          <a:noFill/>
          <a:ln/>
        </p:spPr>
        <p:txBody>
          <a:bodyPr wrap="square" rtlCol="0" anchor="t"/>
          <a:lstStyle/>
          <a:p>
            <a:pPr marL="342900" indent="-342900">
              <a:buSzPct val="100000"/>
              <a:buChar char="•"/>
            </a:pPr>
            <a:r>
              <a:rPr lang="en-US" sz="1300" dirty="0">
                <a:solidFill>
                  <a:srgbClr val="1E293B"/>
                </a:solidFill>
                <a:latin typeface="Arial" pitchFamily="34" charset="0"/>
                <a:ea typeface="Arial" pitchFamily="34" charset="-122"/>
                <a:cs typeface="Arial" pitchFamily="34" charset="-120"/>
              </a:rPr>
              <a:t>Term Frequency (TF): TF(t, d) = f(t, d) / ∑ f(t', d), capturing unigram keywords and adjacent bigrams ("bitlocker recovery", "vpn timeout").</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Smooth Inverse Document Frequency (IDF): IDF(t, D) = ln((1 + |D|) / (1 + df(t))) + 1.0, matching scikit-learn standard.</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Cosine Similarity &amp; L2 Normalization: Sim(q, d) = (q · d) / (||q||₂ · ||d||₂), computing angular dot product in normalized space.</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Category Centroids: Pre-computed semantic center of mass C_cat = (1 / |D_cat|) ∑ v_d, enabling nearest-centroid domain prediction.</a:t>
            </a:r>
            <a:endParaRPr lang="en-US" sz="1300" dirty="0"/>
          </a:p>
        </p:txBody>
      </p:sp>
      <p:sp>
        <p:nvSpPr>
          <p:cNvPr id="7" name="Shape 5"/>
          <p:cNvSpPr/>
          <p:nvPr/>
        </p:nvSpPr>
        <p:spPr>
          <a:xfrm>
            <a:off x="8503920" y="1737360"/>
            <a:ext cx="2926080" cy="4572000"/>
          </a:xfrm>
          <a:prstGeom prst="rect">
            <a:avLst/>
          </a:prstGeom>
          <a:solidFill>
            <a:srgbClr val="FFFFFF"/>
          </a:solidFill>
          <a:ln w="12700">
            <a:solidFill>
              <a:srgbClr val="E2E8F0"/>
            </a:solidFill>
            <a:prstDash val="solid"/>
          </a:ln>
        </p:spPr>
      </p:sp>
      <p:sp>
        <p:nvSpPr>
          <p:cNvPr id="8" name="Text 6"/>
          <p:cNvSpPr/>
          <p:nvPr/>
        </p:nvSpPr>
        <p:spPr>
          <a:xfrm>
            <a:off x="8686800" y="1920240"/>
            <a:ext cx="256032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KEY METRICS &amp; HIGHLIGHTS</a:t>
            </a:r>
            <a:endParaRPr lang="en-US" sz="1000" dirty="0"/>
          </a:p>
        </p:txBody>
      </p:sp>
      <p:sp>
        <p:nvSpPr>
          <p:cNvPr id="9" name="Shape 7"/>
          <p:cNvSpPr/>
          <p:nvPr/>
        </p:nvSpPr>
        <p:spPr>
          <a:xfrm>
            <a:off x="8686800" y="2286000"/>
            <a:ext cx="2560320" cy="822960"/>
          </a:xfrm>
          <a:prstGeom prst="rect">
            <a:avLst/>
          </a:prstGeom>
          <a:solidFill>
            <a:srgbClr val="F1F5F9"/>
          </a:solidFill>
          <a:ln w="6350">
            <a:solidFill>
              <a:srgbClr val="CBD5E1"/>
            </a:solidFill>
            <a:prstDash val="solid"/>
          </a:ln>
        </p:spPr>
      </p:sp>
      <p:sp>
        <p:nvSpPr>
          <p:cNvPr id="10" name="Text 8"/>
          <p:cNvSpPr/>
          <p:nvPr/>
        </p:nvSpPr>
        <p:spPr>
          <a:xfrm>
            <a:off x="8823960" y="235915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2,000 terms</a:t>
            </a:r>
            <a:endParaRPr lang="en-US" sz="1500" dirty="0"/>
          </a:p>
        </p:txBody>
      </p:sp>
      <p:sp>
        <p:nvSpPr>
          <p:cNvPr id="11" name="Text 9"/>
          <p:cNvSpPr/>
          <p:nvPr/>
        </p:nvSpPr>
        <p:spPr>
          <a:xfrm>
            <a:off x="8823960" y="267004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Vocabulary • Top n-gram features</a:t>
            </a:r>
            <a:endParaRPr lang="en-US" sz="900" dirty="0"/>
          </a:p>
        </p:txBody>
      </p:sp>
      <p:sp>
        <p:nvSpPr>
          <p:cNvPr id="12" name="Shape 10"/>
          <p:cNvSpPr/>
          <p:nvPr/>
        </p:nvSpPr>
        <p:spPr>
          <a:xfrm>
            <a:off x="8686800" y="3246120"/>
            <a:ext cx="2560320" cy="822960"/>
          </a:xfrm>
          <a:prstGeom prst="rect">
            <a:avLst/>
          </a:prstGeom>
          <a:solidFill>
            <a:srgbClr val="F1F5F9"/>
          </a:solidFill>
          <a:ln w="6350">
            <a:solidFill>
              <a:srgbClr val="CBD5E1"/>
            </a:solidFill>
            <a:prstDash val="solid"/>
          </a:ln>
        </p:spPr>
      </p:sp>
      <p:sp>
        <p:nvSpPr>
          <p:cNvPr id="13" name="Text 11"/>
          <p:cNvSpPr/>
          <p:nvPr/>
        </p:nvSpPr>
        <p:spPr>
          <a:xfrm>
            <a:off x="8823960" y="331927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Uni + Bigrams</a:t>
            </a:r>
            <a:endParaRPr lang="en-US" sz="1500" dirty="0"/>
          </a:p>
        </p:txBody>
      </p:sp>
      <p:sp>
        <p:nvSpPr>
          <p:cNvPr id="14" name="Text 12"/>
          <p:cNvSpPr/>
          <p:nvPr/>
        </p:nvSpPr>
        <p:spPr>
          <a:xfrm>
            <a:off x="8823960" y="363016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Feature Types • Context preservation</a:t>
            </a:r>
            <a:endParaRPr lang="en-US" sz="900" dirty="0"/>
          </a:p>
        </p:txBody>
      </p:sp>
      <p:sp>
        <p:nvSpPr>
          <p:cNvPr id="15" name="Shape 13"/>
          <p:cNvSpPr/>
          <p:nvPr/>
        </p:nvSpPr>
        <p:spPr>
          <a:xfrm>
            <a:off x="8686800" y="4206240"/>
            <a:ext cx="2560320" cy="822960"/>
          </a:xfrm>
          <a:prstGeom prst="rect">
            <a:avLst/>
          </a:prstGeom>
          <a:solidFill>
            <a:srgbClr val="F1F5F9"/>
          </a:solidFill>
          <a:ln w="6350">
            <a:solidFill>
              <a:srgbClr val="CBD5E1"/>
            </a:solidFill>
            <a:prstDash val="solid"/>
          </a:ln>
        </p:spPr>
      </p:sp>
      <p:sp>
        <p:nvSpPr>
          <p:cNvPr id="16" name="Text 14"/>
          <p:cNvSpPr/>
          <p:nvPr/>
        </p:nvSpPr>
        <p:spPr>
          <a:xfrm>
            <a:off x="8823960" y="427939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L2 Euclidean</a:t>
            </a:r>
            <a:endParaRPr lang="en-US" sz="1500" dirty="0"/>
          </a:p>
        </p:txBody>
      </p:sp>
      <p:sp>
        <p:nvSpPr>
          <p:cNvPr id="17" name="Text 15"/>
          <p:cNvSpPr/>
          <p:nvPr/>
        </p:nvSpPr>
        <p:spPr>
          <a:xfrm>
            <a:off x="8823960" y="459028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Norm Type • Unit vector space</a:t>
            </a:r>
            <a:endParaRPr lang="en-US" sz="900" dirty="0"/>
          </a:p>
        </p:txBody>
      </p:sp>
      <p:sp>
        <p:nvSpPr>
          <p:cNvPr id="18" name="Shape 16"/>
          <p:cNvSpPr/>
          <p:nvPr/>
        </p:nvSpPr>
        <p:spPr>
          <a:xfrm>
            <a:off x="8686800" y="5166360"/>
            <a:ext cx="2560320" cy="822960"/>
          </a:xfrm>
          <a:prstGeom prst="rect">
            <a:avLst/>
          </a:prstGeom>
          <a:solidFill>
            <a:srgbClr val="F1F5F9"/>
          </a:solidFill>
          <a:ln w="6350">
            <a:solidFill>
              <a:srgbClr val="CBD5E1"/>
            </a:solidFill>
            <a:prstDash val="solid"/>
          </a:ln>
        </p:spPr>
      </p:sp>
      <p:sp>
        <p:nvSpPr>
          <p:cNvPr id="19" name="Text 17"/>
          <p:cNvSpPr/>
          <p:nvPr/>
        </p:nvSpPr>
        <p:spPr>
          <a:xfrm>
            <a:off x="8823960" y="523951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&lt;1 ms</a:t>
            </a:r>
            <a:endParaRPr lang="en-US" sz="1500" dirty="0"/>
          </a:p>
        </p:txBody>
      </p:sp>
      <p:sp>
        <p:nvSpPr>
          <p:cNvPr id="20" name="Text 18"/>
          <p:cNvSpPr/>
          <p:nvPr/>
        </p:nvSpPr>
        <p:spPr>
          <a:xfrm>
            <a:off x="8823960" y="555040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Math Speed • Sub-millisecond dot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32004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POLICY &amp; SAFETY</a:t>
            </a:r>
            <a:endParaRPr lang="en-US" sz="1000" dirty="0"/>
          </a:p>
        </p:txBody>
      </p:sp>
      <p:sp>
        <p:nvSpPr>
          <p:cNvPr id="3" name="Text 1"/>
          <p:cNvSpPr/>
          <p:nvPr/>
        </p:nvSpPr>
        <p:spPr>
          <a:xfrm>
            <a:off x="731520" y="685800"/>
            <a:ext cx="1069848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Deterministic Safety Interceptor &amp; Policy Matrix</a:t>
            </a:r>
            <a:endParaRPr lang="en-US" sz="2400" dirty="0"/>
          </a:p>
        </p:txBody>
      </p:sp>
      <p:sp>
        <p:nvSpPr>
          <p:cNvPr id="4" name="Text 2"/>
          <p:cNvSpPr/>
          <p:nvPr/>
        </p:nvSpPr>
        <p:spPr>
          <a:xfrm>
            <a:off x="731520" y="1234440"/>
            <a:ext cx="1069848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Zero-Tolerance Hazard Gating and Dual Confidence Thresholds</a:t>
            </a:r>
            <a:endParaRPr lang="en-US" sz="1300" dirty="0"/>
          </a:p>
        </p:txBody>
      </p:sp>
      <p:sp>
        <p:nvSpPr>
          <p:cNvPr id="5" name="Shape 3"/>
          <p:cNvSpPr/>
          <p:nvPr/>
        </p:nvSpPr>
        <p:spPr>
          <a:xfrm>
            <a:off x="731520" y="1737360"/>
            <a:ext cx="7498080" cy="4572000"/>
          </a:xfrm>
          <a:prstGeom prst="rect">
            <a:avLst/>
          </a:prstGeom>
          <a:solidFill>
            <a:srgbClr val="FFFFFF"/>
          </a:solidFill>
          <a:ln w="12700">
            <a:solidFill>
              <a:srgbClr val="E2E8F0"/>
            </a:solidFill>
            <a:prstDash val="solid"/>
          </a:ln>
        </p:spPr>
      </p:sp>
      <p:sp>
        <p:nvSpPr>
          <p:cNvPr id="6" name="Text 4"/>
          <p:cNvSpPr/>
          <p:nvPr/>
        </p:nvSpPr>
        <p:spPr>
          <a:xfrm>
            <a:off x="1005840" y="1920240"/>
            <a:ext cx="6949440" cy="4114800"/>
          </a:xfrm>
          <a:prstGeom prst="rect">
            <a:avLst/>
          </a:prstGeom>
          <a:noFill/>
          <a:ln/>
        </p:spPr>
        <p:txBody>
          <a:bodyPr wrap="square" rtlCol="0" anchor="t"/>
          <a:lstStyle/>
          <a:p>
            <a:pPr marL="342900" indent="-342900">
              <a:buSzPct val="100000"/>
              <a:buChar char="•"/>
            </a:pPr>
            <a:r>
              <a:rPr lang="en-US" sz="1300" dirty="0">
                <a:solidFill>
                  <a:srgbClr val="1E293B"/>
                </a:solidFill>
                <a:latin typeface="Arial" pitchFamily="34" charset="0"/>
                <a:ea typeface="Arial" pitchFamily="34" charset="-122"/>
                <a:cs typeface="Arial" pitchFamily="34" charset="-120"/>
              </a:rPr>
              <a:t>Rule 1 — Physical Safety Override: Intercepts smoke, spark, fire, burning odor, swollen battery -&gt; ESCALATE_SAFETY immediately.</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Rule 2 — Low Confidence Fallback: If similarity &lt; 0.15, route to ESCALATE_LOW_CONFIDENCE (eliminates hallucinations).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Rule 3 — High Urgency Stricter Gate: Outages require ≥0.30 similarity; if below 0.30, route to ESCALATE_HIGH_URGENCY for senior verification.</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Rule 4 — Autonomous Resolution: Clears all safety and confidence bars -&gt; AUTO_RESOLVE released to employee in &lt;1 second.</a:t>
            </a:r>
            <a:endParaRPr lang="en-US" sz="1300" dirty="0"/>
          </a:p>
        </p:txBody>
      </p:sp>
      <p:sp>
        <p:nvSpPr>
          <p:cNvPr id="7" name="Shape 5"/>
          <p:cNvSpPr/>
          <p:nvPr/>
        </p:nvSpPr>
        <p:spPr>
          <a:xfrm>
            <a:off x="8503920" y="1737360"/>
            <a:ext cx="2926080" cy="4572000"/>
          </a:xfrm>
          <a:prstGeom prst="rect">
            <a:avLst/>
          </a:prstGeom>
          <a:solidFill>
            <a:srgbClr val="FFFFFF"/>
          </a:solidFill>
          <a:ln w="12700">
            <a:solidFill>
              <a:srgbClr val="E2E8F0"/>
            </a:solidFill>
            <a:prstDash val="solid"/>
          </a:ln>
        </p:spPr>
      </p:sp>
      <p:sp>
        <p:nvSpPr>
          <p:cNvPr id="8" name="Text 6"/>
          <p:cNvSpPr/>
          <p:nvPr/>
        </p:nvSpPr>
        <p:spPr>
          <a:xfrm>
            <a:off x="8686800" y="1920240"/>
            <a:ext cx="256032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KEY METRICS &amp; HIGHLIGHTS</a:t>
            </a:r>
            <a:endParaRPr lang="en-US" sz="1000" dirty="0"/>
          </a:p>
        </p:txBody>
      </p:sp>
      <p:sp>
        <p:nvSpPr>
          <p:cNvPr id="9" name="Shape 7"/>
          <p:cNvSpPr/>
          <p:nvPr/>
        </p:nvSpPr>
        <p:spPr>
          <a:xfrm>
            <a:off x="8686800" y="2286000"/>
            <a:ext cx="2560320" cy="822960"/>
          </a:xfrm>
          <a:prstGeom prst="rect">
            <a:avLst/>
          </a:prstGeom>
          <a:solidFill>
            <a:srgbClr val="F1F5F9"/>
          </a:solidFill>
          <a:ln w="6350">
            <a:solidFill>
              <a:srgbClr val="CBD5E1"/>
            </a:solidFill>
            <a:prstDash val="solid"/>
          </a:ln>
        </p:spPr>
      </p:sp>
      <p:sp>
        <p:nvSpPr>
          <p:cNvPr id="10" name="Text 8"/>
          <p:cNvSpPr/>
          <p:nvPr/>
        </p:nvSpPr>
        <p:spPr>
          <a:xfrm>
            <a:off x="8823960" y="235915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0.15 (15%)</a:t>
            </a:r>
            <a:endParaRPr lang="en-US" sz="1500" dirty="0"/>
          </a:p>
        </p:txBody>
      </p:sp>
      <p:sp>
        <p:nvSpPr>
          <p:cNvPr id="11" name="Text 9"/>
          <p:cNvSpPr/>
          <p:nvPr/>
        </p:nvSpPr>
        <p:spPr>
          <a:xfrm>
            <a:off x="8823960" y="267004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Base Bar (τ₁) • Standard auto-resolve</a:t>
            </a:r>
            <a:endParaRPr lang="en-US" sz="900" dirty="0"/>
          </a:p>
        </p:txBody>
      </p:sp>
      <p:sp>
        <p:nvSpPr>
          <p:cNvPr id="12" name="Shape 10"/>
          <p:cNvSpPr/>
          <p:nvPr/>
        </p:nvSpPr>
        <p:spPr>
          <a:xfrm>
            <a:off x="8686800" y="3246120"/>
            <a:ext cx="2560320" cy="822960"/>
          </a:xfrm>
          <a:prstGeom prst="rect">
            <a:avLst/>
          </a:prstGeom>
          <a:solidFill>
            <a:srgbClr val="F1F5F9"/>
          </a:solidFill>
          <a:ln w="6350">
            <a:solidFill>
              <a:srgbClr val="CBD5E1"/>
            </a:solidFill>
            <a:prstDash val="solid"/>
          </a:ln>
        </p:spPr>
      </p:sp>
      <p:sp>
        <p:nvSpPr>
          <p:cNvPr id="13" name="Text 11"/>
          <p:cNvSpPr/>
          <p:nvPr/>
        </p:nvSpPr>
        <p:spPr>
          <a:xfrm>
            <a:off x="8823960" y="331927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0.30 (30%)</a:t>
            </a:r>
            <a:endParaRPr lang="en-US" sz="1500" dirty="0"/>
          </a:p>
        </p:txBody>
      </p:sp>
      <p:sp>
        <p:nvSpPr>
          <p:cNvPr id="14" name="Text 12"/>
          <p:cNvSpPr/>
          <p:nvPr/>
        </p:nvSpPr>
        <p:spPr>
          <a:xfrm>
            <a:off x="8823960" y="363016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Urgent Bar (τ₂) • High urgency gate</a:t>
            </a:r>
            <a:endParaRPr lang="en-US" sz="900" dirty="0"/>
          </a:p>
        </p:txBody>
      </p:sp>
      <p:sp>
        <p:nvSpPr>
          <p:cNvPr id="15" name="Shape 13"/>
          <p:cNvSpPr/>
          <p:nvPr/>
        </p:nvSpPr>
        <p:spPr>
          <a:xfrm>
            <a:off x="8686800" y="4206240"/>
            <a:ext cx="2560320" cy="822960"/>
          </a:xfrm>
          <a:prstGeom prst="rect">
            <a:avLst/>
          </a:prstGeom>
          <a:solidFill>
            <a:srgbClr val="F1F5F9"/>
          </a:solidFill>
          <a:ln w="6350">
            <a:solidFill>
              <a:srgbClr val="CBD5E1"/>
            </a:solidFill>
            <a:prstDash val="solid"/>
          </a:ln>
        </p:spPr>
      </p:sp>
      <p:sp>
        <p:nvSpPr>
          <p:cNvPr id="16" name="Text 14"/>
          <p:cNvSpPr/>
          <p:nvPr/>
        </p:nvSpPr>
        <p:spPr>
          <a:xfrm>
            <a:off x="8823960" y="427939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0 / 25</a:t>
            </a:r>
            <a:endParaRPr lang="en-US" sz="1500" dirty="0"/>
          </a:p>
        </p:txBody>
      </p:sp>
      <p:sp>
        <p:nvSpPr>
          <p:cNvPr id="17" name="Text 15"/>
          <p:cNvSpPr/>
          <p:nvPr/>
        </p:nvSpPr>
        <p:spPr>
          <a:xfrm>
            <a:off x="8823960" y="459028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Safety Escapes • 100% hazard catch</a:t>
            </a:r>
            <a:endParaRPr lang="en-US" sz="900" dirty="0"/>
          </a:p>
        </p:txBody>
      </p:sp>
      <p:sp>
        <p:nvSpPr>
          <p:cNvPr id="18" name="Shape 16"/>
          <p:cNvSpPr/>
          <p:nvPr/>
        </p:nvSpPr>
        <p:spPr>
          <a:xfrm>
            <a:off x="8686800" y="5166360"/>
            <a:ext cx="2560320" cy="822960"/>
          </a:xfrm>
          <a:prstGeom prst="rect">
            <a:avLst/>
          </a:prstGeom>
          <a:solidFill>
            <a:srgbClr val="F1F5F9"/>
          </a:solidFill>
          <a:ln w="6350">
            <a:solidFill>
              <a:srgbClr val="CBD5E1"/>
            </a:solidFill>
            <a:prstDash val="solid"/>
          </a:ln>
        </p:spPr>
      </p:sp>
      <p:sp>
        <p:nvSpPr>
          <p:cNvPr id="19" name="Text 17"/>
          <p:cNvSpPr/>
          <p:nvPr/>
        </p:nvSpPr>
        <p:spPr>
          <a:xfrm>
            <a:off x="8823960" y="523951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100%</a:t>
            </a:r>
            <a:endParaRPr lang="en-US" sz="1500" dirty="0"/>
          </a:p>
        </p:txBody>
      </p:sp>
      <p:sp>
        <p:nvSpPr>
          <p:cNvPr id="20" name="Text 18"/>
          <p:cNvSpPr/>
          <p:nvPr/>
        </p:nvSpPr>
        <p:spPr>
          <a:xfrm>
            <a:off x="8823960" y="555040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Audit Trail • Every decision logged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32004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AI &amp; GROUNDING</a:t>
            </a:r>
            <a:endParaRPr lang="en-US" sz="1000" dirty="0"/>
          </a:p>
        </p:txBody>
      </p:sp>
      <p:sp>
        <p:nvSpPr>
          <p:cNvPr id="3" name="Text 1"/>
          <p:cNvSpPr/>
          <p:nvPr/>
        </p:nvSpPr>
        <p:spPr>
          <a:xfrm>
            <a:off x="731520" y="685800"/>
            <a:ext cx="1069848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Grounded LLM Generation &amp; Web Grounding</a:t>
            </a:r>
            <a:endParaRPr lang="en-US" sz="2400" dirty="0"/>
          </a:p>
        </p:txBody>
      </p:sp>
      <p:sp>
        <p:nvSpPr>
          <p:cNvPr id="4" name="Text 2"/>
          <p:cNvSpPr/>
          <p:nvPr/>
        </p:nvSpPr>
        <p:spPr>
          <a:xfrm>
            <a:off x="731520" y="1234440"/>
            <a:ext cx="1069848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Synthesizing Actionable Step-by-Step SOPs with Gemini 3.8 Flash</a:t>
            </a:r>
            <a:endParaRPr lang="en-US" sz="1300" dirty="0"/>
          </a:p>
        </p:txBody>
      </p:sp>
      <p:sp>
        <p:nvSpPr>
          <p:cNvPr id="5" name="Shape 3"/>
          <p:cNvSpPr/>
          <p:nvPr/>
        </p:nvSpPr>
        <p:spPr>
          <a:xfrm>
            <a:off x="731520" y="1737360"/>
            <a:ext cx="7498080" cy="4572000"/>
          </a:xfrm>
          <a:prstGeom prst="rect">
            <a:avLst/>
          </a:prstGeom>
          <a:solidFill>
            <a:srgbClr val="FFFFFF"/>
          </a:solidFill>
          <a:ln w="12700">
            <a:solidFill>
              <a:srgbClr val="E2E8F0"/>
            </a:solidFill>
            <a:prstDash val="solid"/>
          </a:ln>
        </p:spPr>
      </p:sp>
      <p:sp>
        <p:nvSpPr>
          <p:cNvPr id="6" name="Text 4"/>
          <p:cNvSpPr/>
          <p:nvPr/>
        </p:nvSpPr>
        <p:spPr>
          <a:xfrm>
            <a:off x="1005840" y="1920240"/>
            <a:ext cx="6949440" cy="4114800"/>
          </a:xfrm>
          <a:prstGeom prst="rect">
            <a:avLst/>
          </a:prstGeom>
          <a:noFill/>
          <a:ln/>
        </p:spPr>
        <p:txBody>
          <a:bodyPr wrap="square" rtlCol="0" anchor="t"/>
          <a:lstStyle/>
          <a:p>
            <a:pPr marL="342900" indent="-342900">
              <a:buSzPct val="100000"/>
              <a:buChar char="•"/>
            </a:pPr>
            <a:r>
              <a:rPr lang="en-US" sz="1300" dirty="0">
                <a:solidFill>
                  <a:srgbClr val="1E293B"/>
                </a:solidFill>
                <a:latin typeface="Arial" pitchFamily="34" charset="0"/>
                <a:ea typeface="Arial" pitchFamily="34" charset="-122"/>
                <a:cs typeface="Arial" pitchFamily="34" charset="-120"/>
              </a:rPr>
              <a:t>Context-Constrained Prompting: Gemini system prompt strictly bounded by retrieved KB chunks to prevent hallucinations.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Real-Time Google Search Grounding: Queries Google for external cloud outages (AWS, Slack) and brand-new OS release notes.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Structured, Actionable Responses: Automatically formats answers with prerequisites, numbered steps, terminal commands, and checks.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Transparent Source Attribution: Answers display internal SOP document IDs (e.g., KB-ACC-001) and similarity percentages.</a:t>
            </a:r>
            <a:endParaRPr lang="en-US" sz="1300" dirty="0"/>
          </a:p>
        </p:txBody>
      </p:sp>
      <p:sp>
        <p:nvSpPr>
          <p:cNvPr id="7" name="Shape 5"/>
          <p:cNvSpPr/>
          <p:nvPr/>
        </p:nvSpPr>
        <p:spPr>
          <a:xfrm>
            <a:off x="8503920" y="1737360"/>
            <a:ext cx="2926080" cy="4572000"/>
          </a:xfrm>
          <a:prstGeom prst="rect">
            <a:avLst/>
          </a:prstGeom>
          <a:solidFill>
            <a:srgbClr val="FFFFFF"/>
          </a:solidFill>
          <a:ln w="12700">
            <a:solidFill>
              <a:srgbClr val="E2E8F0"/>
            </a:solidFill>
            <a:prstDash val="solid"/>
          </a:ln>
        </p:spPr>
      </p:sp>
      <p:sp>
        <p:nvSpPr>
          <p:cNvPr id="8" name="Text 6"/>
          <p:cNvSpPr/>
          <p:nvPr/>
        </p:nvSpPr>
        <p:spPr>
          <a:xfrm>
            <a:off x="8686800" y="1920240"/>
            <a:ext cx="256032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KEY METRICS &amp; HIGHLIGHTS</a:t>
            </a:r>
            <a:endParaRPr lang="en-US" sz="1000" dirty="0"/>
          </a:p>
        </p:txBody>
      </p:sp>
      <p:sp>
        <p:nvSpPr>
          <p:cNvPr id="9" name="Shape 7"/>
          <p:cNvSpPr/>
          <p:nvPr/>
        </p:nvSpPr>
        <p:spPr>
          <a:xfrm>
            <a:off x="8686800" y="2286000"/>
            <a:ext cx="2560320" cy="822960"/>
          </a:xfrm>
          <a:prstGeom prst="rect">
            <a:avLst/>
          </a:prstGeom>
          <a:solidFill>
            <a:srgbClr val="F1F5F9"/>
          </a:solidFill>
          <a:ln w="6350">
            <a:solidFill>
              <a:srgbClr val="CBD5E1"/>
            </a:solidFill>
            <a:prstDash val="solid"/>
          </a:ln>
        </p:spPr>
      </p:sp>
      <p:sp>
        <p:nvSpPr>
          <p:cNvPr id="10" name="Text 8"/>
          <p:cNvSpPr/>
          <p:nvPr/>
        </p:nvSpPr>
        <p:spPr>
          <a:xfrm>
            <a:off x="8823960" y="235915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Gemini 3.8</a:t>
            </a:r>
            <a:endParaRPr lang="en-US" sz="1500" dirty="0"/>
          </a:p>
        </p:txBody>
      </p:sp>
      <p:sp>
        <p:nvSpPr>
          <p:cNvPr id="11" name="Text 9"/>
          <p:cNvSpPr/>
          <p:nvPr/>
        </p:nvSpPr>
        <p:spPr>
          <a:xfrm>
            <a:off x="8823960" y="267004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Primary LLM • Flash architecture</a:t>
            </a:r>
            <a:endParaRPr lang="en-US" sz="900" dirty="0"/>
          </a:p>
        </p:txBody>
      </p:sp>
      <p:sp>
        <p:nvSpPr>
          <p:cNvPr id="12" name="Shape 10"/>
          <p:cNvSpPr/>
          <p:nvPr/>
        </p:nvSpPr>
        <p:spPr>
          <a:xfrm>
            <a:off x="8686800" y="3246120"/>
            <a:ext cx="2560320" cy="822960"/>
          </a:xfrm>
          <a:prstGeom prst="rect">
            <a:avLst/>
          </a:prstGeom>
          <a:solidFill>
            <a:srgbClr val="F1F5F9"/>
          </a:solidFill>
          <a:ln w="6350">
            <a:solidFill>
              <a:srgbClr val="CBD5E1"/>
            </a:solidFill>
            <a:prstDash val="solid"/>
          </a:ln>
        </p:spPr>
      </p:sp>
      <p:sp>
        <p:nvSpPr>
          <p:cNvPr id="13" name="Text 11"/>
          <p:cNvSpPr/>
          <p:nvPr/>
        </p:nvSpPr>
        <p:spPr>
          <a:xfrm>
            <a:off x="8823960" y="331927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Google Search</a:t>
            </a:r>
            <a:endParaRPr lang="en-US" sz="1500" dirty="0"/>
          </a:p>
        </p:txBody>
      </p:sp>
      <p:sp>
        <p:nvSpPr>
          <p:cNvPr id="14" name="Text 12"/>
          <p:cNvSpPr/>
          <p:nvPr/>
        </p:nvSpPr>
        <p:spPr>
          <a:xfrm>
            <a:off x="8823960" y="363016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Grounding Tool • Live web citations</a:t>
            </a:r>
            <a:endParaRPr lang="en-US" sz="900" dirty="0"/>
          </a:p>
        </p:txBody>
      </p:sp>
      <p:sp>
        <p:nvSpPr>
          <p:cNvPr id="15" name="Shape 13"/>
          <p:cNvSpPr/>
          <p:nvPr/>
        </p:nvSpPr>
        <p:spPr>
          <a:xfrm>
            <a:off x="8686800" y="4206240"/>
            <a:ext cx="2560320" cy="822960"/>
          </a:xfrm>
          <a:prstGeom prst="rect">
            <a:avLst/>
          </a:prstGeom>
          <a:solidFill>
            <a:srgbClr val="F1F5F9"/>
          </a:solidFill>
          <a:ln w="6350">
            <a:solidFill>
              <a:srgbClr val="CBD5E1"/>
            </a:solidFill>
            <a:prstDash val="solid"/>
          </a:ln>
        </p:spPr>
      </p:sp>
      <p:sp>
        <p:nvSpPr>
          <p:cNvPr id="16" name="Text 14"/>
          <p:cNvSpPr/>
          <p:nvPr/>
        </p:nvSpPr>
        <p:spPr>
          <a:xfrm>
            <a:off x="8823960" y="427939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Step-by-Step</a:t>
            </a:r>
            <a:endParaRPr lang="en-US" sz="1500" dirty="0"/>
          </a:p>
        </p:txBody>
      </p:sp>
      <p:sp>
        <p:nvSpPr>
          <p:cNvPr id="17" name="Text 15"/>
          <p:cNvSpPr/>
          <p:nvPr/>
        </p:nvSpPr>
        <p:spPr>
          <a:xfrm>
            <a:off x="8823960" y="459028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Formatting • Structured procedures</a:t>
            </a:r>
            <a:endParaRPr lang="en-US" sz="900" dirty="0"/>
          </a:p>
        </p:txBody>
      </p:sp>
      <p:sp>
        <p:nvSpPr>
          <p:cNvPr id="18" name="Shape 16"/>
          <p:cNvSpPr/>
          <p:nvPr/>
        </p:nvSpPr>
        <p:spPr>
          <a:xfrm>
            <a:off x="8686800" y="5166360"/>
            <a:ext cx="2560320" cy="822960"/>
          </a:xfrm>
          <a:prstGeom prst="rect">
            <a:avLst/>
          </a:prstGeom>
          <a:solidFill>
            <a:srgbClr val="F1F5F9"/>
          </a:solidFill>
          <a:ln w="6350">
            <a:solidFill>
              <a:srgbClr val="CBD5E1"/>
            </a:solidFill>
            <a:prstDash val="solid"/>
          </a:ln>
        </p:spPr>
      </p:sp>
      <p:sp>
        <p:nvSpPr>
          <p:cNvPr id="19" name="Text 17"/>
          <p:cNvSpPr/>
          <p:nvPr/>
        </p:nvSpPr>
        <p:spPr>
          <a:xfrm>
            <a:off x="8823960" y="523951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0 detected</a:t>
            </a:r>
            <a:endParaRPr lang="en-US" sz="1500" dirty="0"/>
          </a:p>
        </p:txBody>
      </p:sp>
      <p:sp>
        <p:nvSpPr>
          <p:cNvPr id="20" name="Text 18"/>
          <p:cNvSpPr/>
          <p:nvPr/>
        </p:nvSpPr>
        <p:spPr>
          <a:xfrm>
            <a:off x="8823960" y="555040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Hallucinations • Strict KB bounds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32004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KNOWLEDGE MANAGEMENT</a:t>
            </a:r>
            <a:endParaRPr lang="en-US" sz="1000" dirty="0"/>
          </a:p>
        </p:txBody>
      </p:sp>
      <p:sp>
        <p:nvSpPr>
          <p:cNvPr id="3" name="Text 1"/>
          <p:cNvSpPr/>
          <p:nvPr/>
        </p:nvSpPr>
        <p:spPr>
          <a:xfrm>
            <a:off x="731520" y="685800"/>
            <a:ext cx="1069848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Knowledge Base Architecture &amp; Live Ingestion</a:t>
            </a:r>
            <a:endParaRPr lang="en-US" sz="2400" dirty="0"/>
          </a:p>
        </p:txBody>
      </p:sp>
      <p:sp>
        <p:nvSpPr>
          <p:cNvPr id="4" name="Text 2"/>
          <p:cNvSpPr/>
          <p:nvPr/>
        </p:nvSpPr>
        <p:spPr>
          <a:xfrm>
            <a:off x="731520" y="1234440"/>
            <a:ext cx="1069848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Atomic Chunking Strategies and Dynamic Vocabulary Re-Fitting</a:t>
            </a:r>
            <a:endParaRPr lang="en-US" sz="1300" dirty="0"/>
          </a:p>
        </p:txBody>
      </p:sp>
      <p:sp>
        <p:nvSpPr>
          <p:cNvPr id="5" name="Shape 3"/>
          <p:cNvSpPr/>
          <p:nvPr/>
        </p:nvSpPr>
        <p:spPr>
          <a:xfrm>
            <a:off x="731520" y="1737360"/>
            <a:ext cx="7498080" cy="4572000"/>
          </a:xfrm>
          <a:prstGeom prst="rect">
            <a:avLst/>
          </a:prstGeom>
          <a:solidFill>
            <a:srgbClr val="FFFFFF"/>
          </a:solidFill>
          <a:ln w="12700">
            <a:solidFill>
              <a:srgbClr val="E2E8F0"/>
            </a:solidFill>
            <a:prstDash val="solid"/>
          </a:ln>
        </p:spPr>
      </p:sp>
      <p:sp>
        <p:nvSpPr>
          <p:cNvPr id="6" name="Text 4"/>
          <p:cNvSpPr/>
          <p:nvPr/>
        </p:nvSpPr>
        <p:spPr>
          <a:xfrm>
            <a:off x="1005840" y="1920240"/>
            <a:ext cx="6949440" cy="4114800"/>
          </a:xfrm>
          <a:prstGeom prst="rect">
            <a:avLst/>
          </a:prstGeom>
          <a:noFill/>
          <a:ln/>
        </p:spPr>
        <p:txBody>
          <a:bodyPr wrap="square" rtlCol="0" anchor="t"/>
          <a:lstStyle/>
          <a:p>
            <a:pPr marL="342900" indent="-342900">
              <a:buSzPct val="100000"/>
              <a:buChar char="•"/>
            </a:pPr>
            <a:r>
              <a:rPr lang="en-US" sz="1300" dirty="0">
                <a:solidFill>
                  <a:srgbClr val="1E293B"/>
                </a:solidFill>
                <a:latin typeface="Arial" pitchFamily="34" charset="0"/>
                <a:ea typeface="Arial" pitchFamily="34" charset="-122"/>
                <a:cs typeface="Arial" pitchFamily="34" charset="-120"/>
              </a:rPr>
              <a:t>6 Enterprise IT Domains: Pre-indexed SOPs for Hardware, Network, Software, Account &amp; Access, Facility, and Productivity.</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Atomic Chunking Strategy: Documents split into atomic 150–250 token chunks to eliminate semantic dilution during vector matching.</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Dynamic In-Memory Re-Indexing: Administrators can submit new KB articles in the UI with instant in-memory re-vectorization.</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Interactive KB Explorer: Built-in console allows technicians to inspect embeddings, filter by category, and run test similarity queries.</a:t>
            </a:r>
            <a:endParaRPr lang="en-US" sz="1300" dirty="0"/>
          </a:p>
        </p:txBody>
      </p:sp>
      <p:sp>
        <p:nvSpPr>
          <p:cNvPr id="7" name="Shape 5"/>
          <p:cNvSpPr/>
          <p:nvPr/>
        </p:nvSpPr>
        <p:spPr>
          <a:xfrm>
            <a:off x="8503920" y="1737360"/>
            <a:ext cx="2926080" cy="4572000"/>
          </a:xfrm>
          <a:prstGeom prst="rect">
            <a:avLst/>
          </a:prstGeom>
          <a:solidFill>
            <a:srgbClr val="FFFFFF"/>
          </a:solidFill>
          <a:ln w="12700">
            <a:solidFill>
              <a:srgbClr val="E2E8F0"/>
            </a:solidFill>
            <a:prstDash val="solid"/>
          </a:ln>
        </p:spPr>
      </p:sp>
      <p:sp>
        <p:nvSpPr>
          <p:cNvPr id="8" name="Text 6"/>
          <p:cNvSpPr/>
          <p:nvPr/>
        </p:nvSpPr>
        <p:spPr>
          <a:xfrm>
            <a:off x="8686800" y="1920240"/>
            <a:ext cx="256032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KEY METRICS &amp; HIGHLIGHTS</a:t>
            </a:r>
            <a:endParaRPr lang="en-US" sz="1000" dirty="0"/>
          </a:p>
        </p:txBody>
      </p:sp>
      <p:sp>
        <p:nvSpPr>
          <p:cNvPr id="9" name="Shape 7"/>
          <p:cNvSpPr/>
          <p:nvPr/>
        </p:nvSpPr>
        <p:spPr>
          <a:xfrm>
            <a:off x="8686800" y="2286000"/>
            <a:ext cx="2560320" cy="822960"/>
          </a:xfrm>
          <a:prstGeom prst="rect">
            <a:avLst/>
          </a:prstGeom>
          <a:solidFill>
            <a:srgbClr val="F1F5F9"/>
          </a:solidFill>
          <a:ln w="6350">
            <a:solidFill>
              <a:srgbClr val="CBD5E1"/>
            </a:solidFill>
            <a:prstDash val="solid"/>
          </a:ln>
        </p:spPr>
      </p:sp>
      <p:sp>
        <p:nvSpPr>
          <p:cNvPr id="10" name="Text 8"/>
          <p:cNvSpPr/>
          <p:nvPr/>
        </p:nvSpPr>
        <p:spPr>
          <a:xfrm>
            <a:off x="8823960" y="235915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150-250 tok</a:t>
            </a:r>
            <a:endParaRPr lang="en-US" sz="1500" dirty="0"/>
          </a:p>
        </p:txBody>
      </p:sp>
      <p:sp>
        <p:nvSpPr>
          <p:cNvPr id="11" name="Text 9"/>
          <p:cNvSpPr/>
          <p:nvPr/>
        </p:nvSpPr>
        <p:spPr>
          <a:xfrm>
            <a:off x="8823960" y="267004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Chunk Size • Atomic granularity</a:t>
            </a:r>
            <a:endParaRPr lang="en-US" sz="900" dirty="0"/>
          </a:p>
        </p:txBody>
      </p:sp>
      <p:sp>
        <p:nvSpPr>
          <p:cNvPr id="12" name="Shape 10"/>
          <p:cNvSpPr/>
          <p:nvPr/>
        </p:nvSpPr>
        <p:spPr>
          <a:xfrm>
            <a:off x="8686800" y="3246120"/>
            <a:ext cx="2560320" cy="822960"/>
          </a:xfrm>
          <a:prstGeom prst="rect">
            <a:avLst/>
          </a:prstGeom>
          <a:solidFill>
            <a:srgbClr val="F1F5F9"/>
          </a:solidFill>
          <a:ln w="6350">
            <a:solidFill>
              <a:srgbClr val="CBD5E1"/>
            </a:solidFill>
            <a:prstDash val="solid"/>
          </a:ln>
        </p:spPr>
      </p:sp>
      <p:sp>
        <p:nvSpPr>
          <p:cNvPr id="13" name="Text 11"/>
          <p:cNvSpPr/>
          <p:nvPr/>
        </p:nvSpPr>
        <p:spPr>
          <a:xfrm>
            <a:off x="8823960" y="331927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6 Domains</a:t>
            </a:r>
            <a:endParaRPr lang="en-US" sz="1500" dirty="0"/>
          </a:p>
        </p:txBody>
      </p:sp>
      <p:sp>
        <p:nvSpPr>
          <p:cNvPr id="14" name="Text 12"/>
          <p:cNvSpPr/>
          <p:nvPr/>
        </p:nvSpPr>
        <p:spPr>
          <a:xfrm>
            <a:off x="8823960" y="363016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Domain Count • Complete IT coverage</a:t>
            </a:r>
            <a:endParaRPr lang="en-US" sz="900" dirty="0"/>
          </a:p>
        </p:txBody>
      </p:sp>
      <p:sp>
        <p:nvSpPr>
          <p:cNvPr id="15" name="Shape 13"/>
          <p:cNvSpPr/>
          <p:nvPr/>
        </p:nvSpPr>
        <p:spPr>
          <a:xfrm>
            <a:off x="8686800" y="4206240"/>
            <a:ext cx="2560320" cy="822960"/>
          </a:xfrm>
          <a:prstGeom prst="rect">
            <a:avLst/>
          </a:prstGeom>
          <a:solidFill>
            <a:srgbClr val="F1F5F9"/>
          </a:solidFill>
          <a:ln w="6350">
            <a:solidFill>
              <a:srgbClr val="CBD5E1"/>
            </a:solidFill>
            <a:prstDash val="solid"/>
          </a:ln>
        </p:spPr>
      </p:sp>
      <p:sp>
        <p:nvSpPr>
          <p:cNvPr id="16" name="Text 14"/>
          <p:cNvSpPr/>
          <p:nvPr/>
        </p:nvSpPr>
        <p:spPr>
          <a:xfrm>
            <a:off x="8823960" y="427939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Instant</a:t>
            </a:r>
            <a:endParaRPr lang="en-US" sz="1500" dirty="0"/>
          </a:p>
        </p:txBody>
      </p:sp>
      <p:sp>
        <p:nvSpPr>
          <p:cNvPr id="17" name="Text 15"/>
          <p:cNvSpPr/>
          <p:nvPr/>
        </p:nvSpPr>
        <p:spPr>
          <a:xfrm>
            <a:off x="8823960" y="459028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Live Ingestion • Zero-reboot refit</a:t>
            </a:r>
            <a:endParaRPr lang="en-US" sz="900" dirty="0"/>
          </a:p>
        </p:txBody>
      </p:sp>
      <p:sp>
        <p:nvSpPr>
          <p:cNvPr id="18" name="Shape 16"/>
          <p:cNvSpPr/>
          <p:nvPr/>
        </p:nvSpPr>
        <p:spPr>
          <a:xfrm>
            <a:off x="8686800" y="5166360"/>
            <a:ext cx="2560320" cy="822960"/>
          </a:xfrm>
          <a:prstGeom prst="rect">
            <a:avLst/>
          </a:prstGeom>
          <a:solidFill>
            <a:srgbClr val="F1F5F9"/>
          </a:solidFill>
          <a:ln w="6350">
            <a:solidFill>
              <a:srgbClr val="CBD5E1"/>
            </a:solidFill>
            <a:prstDash val="solid"/>
          </a:ln>
        </p:spPr>
      </p:sp>
      <p:sp>
        <p:nvSpPr>
          <p:cNvPr id="19" name="Text 17"/>
          <p:cNvSpPr/>
          <p:nvPr/>
        </p:nvSpPr>
        <p:spPr>
          <a:xfrm>
            <a:off x="8823960" y="523951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Interactive</a:t>
            </a:r>
            <a:endParaRPr lang="en-US" sz="1500" dirty="0"/>
          </a:p>
        </p:txBody>
      </p:sp>
      <p:sp>
        <p:nvSpPr>
          <p:cNvPr id="20" name="Text 18"/>
          <p:cNvSpPr/>
          <p:nvPr/>
        </p:nvSpPr>
        <p:spPr>
          <a:xfrm>
            <a:off x="8823960" y="555040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Search Interface • Built-in KB explorer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32004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EXPERIMENTAL RESULTS</a:t>
            </a:r>
            <a:endParaRPr lang="en-US" sz="1000" dirty="0"/>
          </a:p>
        </p:txBody>
      </p:sp>
      <p:sp>
        <p:nvSpPr>
          <p:cNvPr id="3" name="Text 1"/>
          <p:cNvSpPr/>
          <p:nvPr/>
        </p:nvSpPr>
        <p:spPr>
          <a:xfrm>
            <a:off x="731520" y="685800"/>
            <a:ext cx="1069848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Benchmark Evaluation Across 1,098 Tickets</a:t>
            </a:r>
            <a:endParaRPr lang="en-US" sz="2400" dirty="0"/>
          </a:p>
        </p:txBody>
      </p:sp>
      <p:sp>
        <p:nvSpPr>
          <p:cNvPr id="4" name="Text 2"/>
          <p:cNvSpPr/>
          <p:nvPr/>
        </p:nvSpPr>
        <p:spPr>
          <a:xfrm>
            <a:off x="731520" y="1234440"/>
            <a:ext cx="1069848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Tested on Real-World Kaggle ITSM Data and Enterprise Loopback Sets</a:t>
            </a:r>
            <a:endParaRPr lang="en-US" sz="1300" dirty="0"/>
          </a:p>
        </p:txBody>
      </p:sp>
      <p:sp>
        <p:nvSpPr>
          <p:cNvPr id="5" name="Shape 3"/>
          <p:cNvSpPr/>
          <p:nvPr/>
        </p:nvSpPr>
        <p:spPr>
          <a:xfrm>
            <a:off x="731520" y="1737360"/>
            <a:ext cx="7498080" cy="4572000"/>
          </a:xfrm>
          <a:prstGeom prst="rect">
            <a:avLst/>
          </a:prstGeom>
          <a:solidFill>
            <a:srgbClr val="FFFFFF"/>
          </a:solidFill>
          <a:ln w="12700">
            <a:solidFill>
              <a:srgbClr val="E2E8F0"/>
            </a:solidFill>
            <a:prstDash val="solid"/>
          </a:ln>
        </p:spPr>
      </p:sp>
      <p:sp>
        <p:nvSpPr>
          <p:cNvPr id="6" name="Text 4"/>
          <p:cNvSpPr/>
          <p:nvPr/>
        </p:nvSpPr>
        <p:spPr>
          <a:xfrm>
            <a:off x="1005840" y="1920240"/>
            <a:ext cx="6949440" cy="4114800"/>
          </a:xfrm>
          <a:prstGeom prst="rect">
            <a:avLst/>
          </a:prstGeom>
          <a:noFill/>
          <a:ln/>
        </p:spPr>
        <p:txBody>
          <a:bodyPr wrap="square" rtlCol="0" anchor="t"/>
          <a:lstStyle/>
          <a:p>
            <a:pPr marL="342900" indent="-342900">
              <a:buSzPct val="100000"/>
              <a:buChar char="•"/>
            </a:pPr>
            <a:r>
              <a:rPr lang="en-US" sz="1300" dirty="0">
                <a:solidFill>
                  <a:srgbClr val="1E293B"/>
                </a:solidFill>
                <a:latin typeface="Arial" pitchFamily="34" charset="0"/>
                <a:ea typeface="Arial" pitchFamily="34" charset="-122"/>
                <a:cs typeface="Arial" pitchFamily="34" charset="-120"/>
              </a:rPr>
              <a:t>Comprehensive Test Dataset: N=1,098 independently labeled tickets evaluated across 7 categories and 3 urgency levels.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Routing Action Breakdown: 814 Auto-Resolved (74.1%), 163 Low Confidence (14.8%), 96 Urgent (8.7%), 25 Safety (2.3%).</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Safety Accuracy: 100% precision on physical hazard detection (0 false-positives released to users across all 25 hazards).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Category Accuracy: Account &amp; Access reached 68.4%; Facility 64.2%; Productivity 58.3%; Network 52.1%; Hardware 49.3%.</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System Latency: Average end-to-end processing time of 18.4 ms (under 1 ms for local vector retrieval).</a:t>
            </a:r>
            <a:endParaRPr lang="en-US" sz="1300" dirty="0"/>
          </a:p>
        </p:txBody>
      </p:sp>
      <p:sp>
        <p:nvSpPr>
          <p:cNvPr id="7" name="Shape 5"/>
          <p:cNvSpPr/>
          <p:nvPr/>
        </p:nvSpPr>
        <p:spPr>
          <a:xfrm>
            <a:off x="8503920" y="1737360"/>
            <a:ext cx="2926080" cy="4572000"/>
          </a:xfrm>
          <a:prstGeom prst="rect">
            <a:avLst/>
          </a:prstGeom>
          <a:solidFill>
            <a:srgbClr val="FFFFFF"/>
          </a:solidFill>
          <a:ln w="12700">
            <a:solidFill>
              <a:srgbClr val="E2E8F0"/>
            </a:solidFill>
            <a:prstDash val="solid"/>
          </a:ln>
        </p:spPr>
      </p:sp>
      <p:sp>
        <p:nvSpPr>
          <p:cNvPr id="8" name="Text 6"/>
          <p:cNvSpPr/>
          <p:nvPr/>
        </p:nvSpPr>
        <p:spPr>
          <a:xfrm>
            <a:off x="8686800" y="1920240"/>
            <a:ext cx="256032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KEY METRICS &amp; HIGHLIGHTS</a:t>
            </a:r>
            <a:endParaRPr lang="en-US" sz="1000" dirty="0"/>
          </a:p>
        </p:txBody>
      </p:sp>
      <p:sp>
        <p:nvSpPr>
          <p:cNvPr id="9" name="Shape 7"/>
          <p:cNvSpPr/>
          <p:nvPr/>
        </p:nvSpPr>
        <p:spPr>
          <a:xfrm>
            <a:off x="8686800" y="2286000"/>
            <a:ext cx="2560320" cy="822960"/>
          </a:xfrm>
          <a:prstGeom prst="rect">
            <a:avLst/>
          </a:prstGeom>
          <a:solidFill>
            <a:srgbClr val="F1F5F9"/>
          </a:solidFill>
          <a:ln w="6350">
            <a:solidFill>
              <a:srgbClr val="CBD5E1"/>
            </a:solidFill>
            <a:prstDash val="solid"/>
          </a:ln>
        </p:spPr>
      </p:sp>
      <p:sp>
        <p:nvSpPr>
          <p:cNvPr id="10" name="Text 8"/>
          <p:cNvSpPr/>
          <p:nvPr/>
        </p:nvSpPr>
        <p:spPr>
          <a:xfrm>
            <a:off x="8823960" y="235915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814 (74.1%)</a:t>
            </a:r>
            <a:endParaRPr lang="en-US" sz="1500" dirty="0"/>
          </a:p>
        </p:txBody>
      </p:sp>
      <p:sp>
        <p:nvSpPr>
          <p:cNvPr id="11" name="Text 9"/>
          <p:cNvSpPr/>
          <p:nvPr/>
        </p:nvSpPr>
        <p:spPr>
          <a:xfrm>
            <a:off x="8823960" y="267004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Auto-Resolved • Autonomous deflection</a:t>
            </a:r>
            <a:endParaRPr lang="en-US" sz="900" dirty="0"/>
          </a:p>
        </p:txBody>
      </p:sp>
      <p:sp>
        <p:nvSpPr>
          <p:cNvPr id="12" name="Shape 10"/>
          <p:cNvSpPr/>
          <p:nvPr/>
        </p:nvSpPr>
        <p:spPr>
          <a:xfrm>
            <a:off x="8686800" y="3246120"/>
            <a:ext cx="2560320" cy="822960"/>
          </a:xfrm>
          <a:prstGeom prst="rect">
            <a:avLst/>
          </a:prstGeom>
          <a:solidFill>
            <a:srgbClr val="F1F5F9"/>
          </a:solidFill>
          <a:ln w="6350">
            <a:solidFill>
              <a:srgbClr val="CBD5E1"/>
            </a:solidFill>
            <a:prstDash val="solid"/>
          </a:ln>
        </p:spPr>
      </p:sp>
      <p:sp>
        <p:nvSpPr>
          <p:cNvPr id="13" name="Text 11"/>
          <p:cNvSpPr/>
          <p:nvPr/>
        </p:nvSpPr>
        <p:spPr>
          <a:xfrm>
            <a:off x="8823960" y="331927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163 (14.8%)</a:t>
            </a:r>
            <a:endParaRPr lang="en-US" sz="1500" dirty="0"/>
          </a:p>
        </p:txBody>
      </p:sp>
      <p:sp>
        <p:nvSpPr>
          <p:cNvPr id="14" name="Text 12"/>
          <p:cNvSpPr/>
          <p:nvPr/>
        </p:nvSpPr>
        <p:spPr>
          <a:xfrm>
            <a:off x="8823960" y="363016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Low Confidence • Deflected to triage</a:t>
            </a:r>
            <a:endParaRPr lang="en-US" sz="900" dirty="0"/>
          </a:p>
        </p:txBody>
      </p:sp>
      <p:sp>
        <p:nvSpPr>
          <p:cNvPr id="15" name="Shape 13"/>
          <p:cNvSpPr/>
          <p:nvPr/>
        </p:nvSpPr>
        <p:spPr>
          <a:xfrm>
            <a:off x="8686800" y="4206240"/>
            <a:ext cx="2560320" cy="822960"/>
          </a:xfrm>
          <a:prstGeom prst="rect">
            <a:avLst/>
          </a:prstGeom>
          <a:solidFill>
            <a:srgbClr val="F1F5F9"/>
          </a:solidFill>
          <a:ln w="6350">
            <a:solidFill>
              <a:srgbClr val="CBD5E1"/>
            </a:solidFill>
            <a:prstDash val="solid"/>
          </a:ln>
        </p:spPr>
      </p:sp>
      <p:sp>
        <p:nvSpPr>
          <p:cNvPr id="16" name="Text 14"/>
          <p:cNvSpPr/>
          <p:nvPr/>
        </p:nvSpPr>
        <p:spPr>
          <a:xfrm>
            <a:off x="8823960" y="427939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96 (8.7%)</a:t>
            </a:r>
            <a:endParaRPr lang="en-US" sz="1500" dirty="0"/>
          </a:p>
        </p:txBody>
      </p:sp>
      <p:sp>
        <p:nvSpPr>
          <p:cNvPr id="17" name="Text 15"/>
          <p:cNvSpPr/>
          <p:nvPr/>
        </p:nvSpPr>
        <p:spPr>
          <a:xfrm>
            <a:off x="8823960" y="459028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Urgent Review • Tier-2 verified</a:t>
            </a:r>
            <a:endParaRPr lang="en-US" sz="900" dirty="0"/>
          </a:p>
        </p:txBody>
      </p:sp>
      <p:sp>
        <p:nvSpPr>
          <p:cNvPr id="18" name="Shape 16"/>
          <p:cNvSpPr/>
          <p:nvPr/>
        </p:nvSpPr>
        <p:spPr>
          <a:xfrm>
            <a:off x="8686800" y="5166360"/>
            <a:ext cx="2560320" cy="822960"/>
          </a:xfrm>
          <a:prstGeom prst="rect">
            <a:avLst/>
          </a:prstGeom>
          <a:solidFill>
            <a:srgbClr val="F1F5F9"/>
          </a:solidFill>
          <a:ln w="6350">
            <a:solidFill>
              <a:srgbClr val="CBD5E1"/>
            </a:solidFill>
            <a:prstDash val="solid"/>
          </a:ln>
        </p:spPr>
      </p:sp>
      <p:sp>
        <p:nvSpPr>
          <p:cNvPr id="19" name="Text 17"/>
          <p:cNvSpPr/>
          <p:nvPr/>
        </p:nvSpPr>
        <p:spPr>
          <a:xfrm>
            <a:off x="8823960" y="523951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25 (2.3%)</a:t>
            </a:r>
            <a:endParaRPr lang="en-US" sz="1500" dirty="0"/>
          </a:p>
        </p:txBody>
      </p:sp>
      <p:sp>
        <p:nvSpPr>
          <p:cNvPr id="20" name="Text 18"/>
          <p:cNvSpPr/>
          <p:nvPr/>
        </p:nvSpPr>
        <p:spPr>
          <a:xfrm>
            <a:off x="8823960" y="555040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Safety Escalated • 100% hazard catch</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32004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BUSINESS IMPACT</a:t>
            </a:r>
            <a:endParaRPr lang="en-US" sz="1000" dirty="0"/>
          </a:p>
        </p:txBody>
      </p:sp>
      <p:sp>
        <p:nvSpPr>
          <p:cNvPr id="3" name="Text 1"/>
          <p:cNvSpPr/>
          <p:nvPr/>
        </p:nvSpPr>
        <p:spPr>
          <a:xfrm>
            <a:off x="731520" y="685800"/>
            <a:ext cx="1069848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Quantified Operational ROI &amp; Labor Economics</a:t>
            </a:r>
            <a:endParaRPr lang="en-US" sz="2400" dirty="0"/>
          </a:p>
        </p:txBody>
      </p:sp>
      <p:sp>
        <p:nvSpPr>
          <p:cNvPr id="4" name="Text 2"/>
          <p:cNvSpPr/>
          <p:nvPr/>
        </p:nvSpPr>
        <p:spPr>
          <a:xfrm>
            <a:off x="731520" y="1234440"/>
            <a:ext cx="1069848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Preserving 271.3 Technician Hours and Slashing MTTR from Hours to Milliseconds</a:t>
            </a:r>
            <a:endParaRPr lang="en-US" sz="1300" dirty="0"/>
          </a:p>
        </p:txBody>
      </p:sp>
      <p:sp>
        <p:nvSpPr>
          <p:cNvPr id="5" name="Shape 3"/>
          <p:cNvSpPr/>
          <p:nvPr/>
        </p:nvSpPr>
        <p:spPr>
          <a:xfrm>
            <a:off x="731520" y="1737360"/>
            <a:ext cx="7498080" cy="4572000"/>
          </a:xfrm>
          <a:prstGeom prst="rect">
            <a:avLst/>
          </a:prstGeom>
          <a:solidFill>
            <a:srgbClr val="FFFFFF"/>
          </a:solidFill>
          <a:ln w="12700">
            <a:solidFill>
              <a:srgbClr val="E2E8F0"/>
            </a:solidFill>
            <a:prstDash val="solid"/>
          </a:ln>
        </p:spPr>
      </p:sp>
      <p:sp>
        <p:nvSpPr>
          <p:cNvPr id="6" name="Text 4"/>
          <p:cNvSpPr/>
          <p:nvPr/>
        </p:nvSpPr>
        <p:spPr>
          <a:xfrm>
            <a:off x="1005840" y="1920240"/>
            <a:ext cx="6949440" cy="4114800"/>
          </a:xfrm>
          <a:prstGeom prst="rect">
            <a:avLst/>
          </a:prstGeom>
          <a:noFill/>
          <a:ln/>
        </p:spPr>
        <p:txBody>
          <a:bodyPr wrap="square" rtlCol="0" anchor="t"/>
          <a:lstStyle/>
          <a:p>
            <a:pPr marL="342900" indent="-342900">
              <a:buSzPct val="100000"/>
              <a:buChar char="•"/>
            </a:pPr>
            <a:r>
              <a:rPr lang="en-US" sz="1300" dirty="0">
                <a:solidFill>
                  <a:srgbClr val="1E293B"/>
                </a:solidFill>
                <a:latin typeface="Arial" pitchFamily="34" charset="0"/>
                <a:ea typeface="Arial" pitchFamily="34" charset="-122"/>
                <a:cs typeface="Arial" pitchFamily="34" charset="-120"/>
              </a:rPr>
              <a:t>Preserved Engineering Labor: 814 tickets × 20 min industry average = 16,280 minutes = 271.3 hours of technician time saved.</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Cost Savings Projection: $13,565 saved on the benchmark test sample alone; projected $75,000–$110,000 annual savings for a 500-seat enterprise.</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Mean Time to Resolution (MTTR): Slashed from average queue latency of 4.2 hours to 18.4 milliseconds.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Workforce Productivity: Instant self-service prevents employee idle time caused by password lockouts or VPN connection drops.</a:t>
            </a:r>
            <a:endParaRPr lang="en-US" sz="1300" dirty="0"/>
          </a:p>
        </p:txBody>
      </p:sp>
      <p:sp>
        <p:nvSpPr>
          <p:cNvPr id="7" name="Shape 5"/>
          <p:cNvSpPr/>
          <p:nvPr/>
        </p:nvSpPr>
        <p:spPr>
          <a:xfrm>
            <a:off x="8503920" y="1737360"/>
            <a:ext cx="2926080" cy="4572000"/>
          </a:xfrm>
          <a:prstGeom prst="rect">
            <a:avLst/>
          </a:prstGeom>
          <a:solidFill>
            <a:srgbClr val="FFFFFF"/>
          </a:solidFill>
          <a:ln w="12700">
            <a:solidFill>
              <a:srgbClr val="E2E8F0"/>
            </a:solidFill>
            <a:prstDash val="solid"/>
          </a:ln>
        </p:spPr>
      </p:sp>
      <p:sp>
        <p:nvSpPr>
          <p:cNvPr id="8" name="Text 6"/>
          <p:cNvSpPr/>
          <p:nvPr/>
        </p:nvSpPr>
        <p:spPr>
          <a:xfrm>
            <a:off x="8686800" y="1920240"/>
            <a:ext cx="256032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KEY METRICS &amp; HIGHLIGHTS</a:t>
            </a:r>
            <a:endParaRPr lang="en-US" sz="1000" dirty="0"/>
          </a:p>
        </p:txBody>
      </p:sp>
      <p:sp>
        <p:nvSpPr>
          <p:cNvPr id="9" name="Shape 7"/>
          <p:cNvSpPr/>
          <p:nvPr/>
        </p:nvSpPr>
        <p:spPr>
          <a:xfrm>
            <a:off x="8686800" y="2286000"/>
            <a:ext cx="2560320" cy="822960"/>
          </a:xfrm>
          <a:prstGeom prst="rect">
            <a:avLst/>
          </a:prstGeom>
          <a:solidFill>
            <a:srgbClr val="F1F5F9"/>
          </a:solidFill>
          <a:ln w="6350">
            <a:solidFill>
              <a:srgbClr val="CBD5E1"/>
            </a:solidFill>
            <a:prstDash val="solid"/>
          </a:ln>
        </p:spPr>
      </p:sp>
      <p:sp>
        <p:nvSpPr>
          <p:cNvPr id="10" name="Text 8"/>
          <p:cNvSpPr/>
          <p:nvPr/>
        </p:nvSpPr>
        <p:spPr>
          <a:xfrm>
            <a:off x="8823960" y="235915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271.3 hrs</a:t>
            </a:r>
            <a:endParaRPr lang="en-US" sz="1500" dirty="0"/>
          </a:p>
        </p:txBody>
      </p:sp>
      <p:sp>
        <p:nvSpPr>
          <p:cNvPr id="11" name="Text 9"/>
          <p:cNvSpPr/>
          <p:nvPr/>
        </p:nvSpPr>
        <p:spPr>
          <a:xfrm>
            <a:off x="8823960" y="267004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Hours Saved • Technician labor</a:t>
            </a:r>
            <a:endParaRPr lang="en-US" sz="900" dirty="0"/>
          </a:p>
        </p:txBody>
      </p:sp>
      <p:sp>
        <p:nvSpPr>
          <p:cNvPr id="12" name="Shape 10"/>
          <p:cNvSpPr/>
          <p:nvPr/>
        </p:nvSpPr>
        <p:spPr>
          <a:xfrm>
            <a:off x="8686800" y="3246120"/>
            <a:ext cx="2560320" cy="822960"/>
          </a:xfrm>
          <a:prstGeom prst="rect">
            <a:avLst/>
          </a:prstGeom>
          <a:solidFill>
            <a:srgbClr val="F1F5F9"/>
          </a:solidFill>
          <a:ln w="6350">
            <a:solidFill>
              <a:srgbClr val="CBD5E1"/>
            </a:solidFill>
            <a:prstDash val="solid"/>
          </a:ln>
        </p:spPr>
      </p:sp>
      <p:sp>
        <p:nvSpPr>
          <p:cNvPr id="13" name="Text 11"/>
          <p:cNvSpPr/>
          <p:nvPr/>
        </p:nvSpPr>
        <p:spPr>
          <a:xfrm>
            <a:off x="8823960" y="331927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16,280 min</a:t>
            </a:r>
            <a:endParaRPr lang="en-US" sz="1500" dirty="0"/>
          </a:p>
        </p:txBody>
      </p:sp>
      <p:sp>
        <p:nvSpPr>
          <p:cNvPr id="14" name="Text 12"/>
          <p:cNvSpPr/>
          <p:nvPr/>
        </p:nvSpPr>
        <p:spPr>
          <a:xfrm>
            <a:off x="8823960" y="363016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Minutes Saved • L1 engineering time</a:t>
            </a:r>
            <a:endParaRPr lang="en-US" sz="900" dirty="0"/>
          </a:p>
        </p:txBody>
      </p:sp>
      <p:sp>
        <p:nvSpPr>
          <p:cNvPr id="15" name="Shape 13"/>
          <p:cNvSpPr/>
          <p:nvPr/>
        </p:nvSpPr>
        <p:spPr>
          <a:xfrm>
            <a:off x="8686800" y="4206240"/>
            <a:ext cx="2560320" cy="822960"/>
          </a:xfrm>
          <a:prstGeom prst="rect">
            <a:avLst/>
          </a:prstGeom>
          <a:solidFill>
            <a:srgbClr val="F1F5F9"/>
          </a:solidFill>
          <a:ln w="6350">
            <a:solidFill>
              <a:srgbClr val="CBD5E1"/>
            </a:solidFill>
            <a:prstDash val="solid"/>
          </a:ln>
        </p:spPr>
      </p:sp>
      <p:sp>
        <p:nvSpPr>
          <p:cNvPr id="16" name="Text 14"/>
          <p:cNvSpPr/>
          <p:nvPr/>
        </p:nvSpPr>
        <p:spPr>
          <a:xfrm>
            <a:off x="8823960" y="427939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&lt;1 second</a:t>
            </a:r>
            <a:endParaRPr lang="en-US" sz="1500" dirty="0"/>
          </a:p>
        </p:txBody>
      </p:sp>
      <p:sp>
        <p:nvSpPr>
          <p:cNvPr id="17" name="Text 15"/>
          <p:cNvSpPr/>
          <p:nvPr/>
        </p:nvSpPr>
        <p:spPr>
          <a:xfrm>
            <a:off x="8823960" y="459028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MTTR Shift • Down from 4.2 hours</a:t>
            </a:r>
            <a:endParaRPr lang="en-US" sz="900" dirty="0"/>
          </a:p>
        </p:txBody>
      </p:sp>
      <p:sp>
        <p:nvSpPr>
          <p:cNvPr id="18" name="Shape 16"/>
          <p:cNvSpPr/>
          <p:nvPr/>
        </p:nvSpPr>
        <p:spPr>
          <a:xfrm>
            <a:off x="8686800" y="5166360"/>
            <a:ext cx="2560320" cy="822960"/>
          </a:xfrm>
          <a:prstGeom prst="rect">
            <a:avLst/>
          </a:prstGeom>
          <a:solidFill>
            <a:srgbClr val="F1F5F9"/>
          </a:solidFill>
          <a:ln w="6350">
            <a:solidFill>
              <a:srgbClr val="CBD5E1"/>
            </a:solidFill>
            <a:prstDash val="solid"/>
          </a:ln>
        </p:spPr>
      </p:sp>
      <p:sp>
        <p:nvSpPr>
          <p:cNvPr id="19" name="Text 17"/>
          <p:cNvSpPr/>
          <p:nvPr/>
        </p:nvSpPr>
        <p:spPr>
          <a:xfrm>
            <a:off x="8823960" y="523951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$75,000+</a:t>
            </a:r>
            <a:endParaRPr lang="en-US" sz="1500" dirty="0"/>
          </a:p>
        </p:txBody>
      </p:sp>
      <p:sp>
        <p:nvSpPr>
          <p:cNvPr id="20" name="Text 18"/>
          <p:cNvSpPr/>
          <p:nvPr/>
        </p:nvSpPr>
        <p:spPr>
          <a:xfrm>
            <a:off x="8823960" y="555040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Annual ROI • Per 500 employees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32004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DEMONSTRATION</a:t>
            </a:r>
            <a:endParaRPr lang="en-US" sz="1000" dirty="0"/>
          </a:p>
        </p:txBody>
      </p:sp>
      <p:sp>
        <p:nvSpPr>
          <p:cNvPr id="3" name="Text 1"/>
          <p:cNvSpPr/>
          <p:nvPr/>
        </p:nvSpPr>
        <p:spPr>
          <a:xfrm>
            <a:off x="731520" y="685800"/>
            <a:ext cx="1069848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Console Capabilities &amp; Interactive Walkthrough</a:t>
            </a:r>
            <a:endParaRPr lang="en-US" sz="2400" dirty="0"/>
          </a:p>
        </p:txBody>
      </p:sp>
      <p:sp>
        <p:nvSpPr>
          <p:cNvPr id="4" name="Text 2"/>
          <p:cNvSpPr/>
          <p:nvPr/>
        </p:nvSpPr>
        <p:spPr>
          <a:xfrm>
            <a:off x="731520" y="1234440"/>
            <a:ext cx="1069848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Live Interactive Ticket Assistant, Pipeline Trace Inspector, and Audit Controls</a:t>
            </a:r>
            <a:endParaRPr lang="en-US" sz="1300" dirty="0"/>
          </a:p>
        </p:txBody>
      </p:sp>
      <p:sp>
        <p:nvSpPr>
          <p:cNvPr id="5" name="Shape 3"/>
          <p:cNvSpPr/>
          <p:nvPr/>
        </p:nvSpPr>
        <p:spPr>
          <a:xfrm>
            <a:off x="731520" y="1737360"/>
            <a:ext cx="7498080" cy="4572000"/>
          </a:xfrm>
          <a:prstGeom prst="rect">
            <a:avLst/>
          </a:prstGeom>
          <a:solidFill>
            <a:srgbClr val="FFFFFF"/>
          </a:solidFill>
          <a:ln w="12700">
            <a:solidFill>
              <a:srgbClr val="E2E8F0"/>
            </a:solidFill>
            <a:prstDash val="solid"/>
          </a:ln>
        </p:spPr>
      </p:sp>
      <p:sp>
        <p:nvSpPr>
          <p:cNvPr id="6" name="Text 4"/>
          <p:cNvSpPr/>
          <p:nvPr/>
        </p:nvSpPr>
        <p:spPr>
          <a:xfrm>
            <a:off x="1005840" y="1920240"/>
            <a:ext cx="6949440" cy="4114800"/>
          </a:xfrm>
          <a:prstGeom prst="rect">
            <a:avLst/>
          </a:prstGeom>
          <a:noFill/>
          <a:ln/>
        </p:spPr>
        <p:txBody>
          <a:bodyPr wrap="square" rtlCol="0" anchor="t"/>
          <a:lstStyle/>
          <a:p>
            <a:pPr marL="342900" indent="-342900">
              <a:buSzPct val="100000"/>
              <a:buChar char="•"/>
            </a:pPr>
            <a:r>
              <a:rPr lang="en-US" sz="1300" dirty="0">
                <a:solidFill>
                  <a:srgbClr val="1E293B"/>
                </a:solidFill>
                <a:latin typeface="Arial" pitchFamily="34" charset="0"/>
                <a:ea typeface="Arial" pitchFamily="34" charset="-122"/>
                <a:cs typeface="Arial" pitchFamily="34" charset="-120"/>
              </a:rPr>
              <a:t>Interactive Ticket Assistant: Test real-time custom queries or pre-packaged scenarios with lifecycle badges (Pending, Resolved, Escalated).</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Pipeline Trace Inspector: Step-by-step auditable drilldown displaying category prediction, vector similarity scores, and policy justification.</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Dynamic Threshold Tuner: Interactive sliders to adjust confidence thresholds with live confusion matrix simulations.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Executive KPI Dashboard: Real-time Recharts visualizations of deflection rates, domain breakdowns, and latency metrics.</a:t>
            </a:r>
            <a:endParaRPr lang="en-US" sz="1300" dirty="0"/>
          </a:p>
        </p:txBody>
      </p:sp>
      <p:sp>
        <p:nvSpPr>
          <p:cNvPr id="7" name="Shape 5"/>
          <p:cNvSpPr/>
          <p:nvPr/>
        </p:nvSpPr>
        <p:spPr>
          <a:xfrm>
            <a:off x="8503920" y="1737360"/>
            <a:ext cx="2926080" cy="4572000"/>
          </a:xfrm>
          <a:prstGeom prst="rect">
            <a:avLst/>
          </a:prstGeom>
          <a:solidFill>
            <a:srgbClr val="FFFFFF"/>
          </a:solidFill>
          <a:ln w="12700">
            <a:solidFill>
              <a:srgbClr val="E2E8F0"/>
            </a:solidFill>
            <a:prstDash val="solid"/>
          </a:ln>
        </p:spPr>
      </p:sp>
      <p:sp>
        <p:nvSpPr>
          <p:cNvPr id="8" name="Text 6"/>
          <p:cNvSpPr/>
          <p:nvPr/>
        </p:nvSpPr>
        <p:spPr>
          <a:xfrm>
            <a:off x="8686800" y="1920240"/>
            <a:ext cx="256032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KEY METRICS &amp; HIGHLIGHTS</a:t>
            </a:r>
            <a:endParaRPr lang="en-US" sz="1000" dirty="0"/>
          </a:p>
        </p:txBody>
      </p:sp>
      <p:sp>
        <p:nvSpPr>
          <p:cNvPr id="9" name="Shape 7"/>
          <p:cNvSpPr/>
          <p:nvPr/>
        </p:nvSpPr>
        <p:spPr>
          <a:xfrm>
            <a:off x="8686800" y="2286000"/>
            <a:ext cx="2560320" cy="822960"/>
          </a:xfrm>
          <a:prstGeom prst="rect">
            <a:avLst/>
          </a:prstGeom>
          <a:solidFill>
            <a:srgbClr val="F1F5F9"/>
          </a:solidFill>
          <a:ln w="6350">
            <a:solidFill>
              <a:srgbClr val="CBD5E1"/>
            </a:solidFill>
            <a:prstDash val="solid"/>
          </a:ln>
        </p:spPr>
      </p:sp>
      <p:sp>
        <p:nvSpPr>
          <p:cNvPr id="10" name="Text 8"/>
          <p:cNvSpPr/>
          <p:nvPr/>
        </p:nvSpPr>
        <p:spPr>
          <a:xfrm>
            <a:off x="8823960" y="235915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3 States</a:t>
            </a:r>
            <a:endParaRPr lang="en-US" sz="1500" dirty="0"/>
          </a:p>
        </p:txBody>
      </p:sp>
      <p:sp>
        <p:nvSpPr>
          <p:cNvPr id="11" name="Text 9"/>
          <p:cNvSpPr/>
          <p:nvPr/>
        </p:nvSpPr>
        <p:spPr>
          <a:xfrm>
            <a:off x="8823960" y="267004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Lifecycle Badges • Pending/Resolved/Esc</a:t>
            </a:r>
            <a:endParaRPr lang="en-US" sz="900" dirty="0"/>
          </a:p>
        </p:txBody>
      </p:sp>
      <p:sp>
        <p:nvSpPr>
          <p:cNvPr id="12" name="Shape 10"/>
          <p:cNvSpPr/>
          <p:nvPr/>
        </p:nvSpPr>
        <p:spPr>
          <a:xfrm>
            <a:off x="8686800" y="3246120"/>
            <a:ext cx="2560320" cy="822960"/>
          </a:xfrm>
          <a:prstGeom prst="rect">
            <a:avLst/>
          </a:prstGeom>
          <a:solidFill>
            <a:srgbClr val="F1F5F9"/>
          </a:solidFill>
          <a:ln w="6350">
            <a:solidFill>
              <a:srgbClr val="CBD5E1"/>
            </a:solidFill>
            <a:prstDash val="solid"/>
          </a:ln>
        </p:spPr>
      </p:sp>
      <p:sp>
        <p:nvSpPr>
          <p:cNvPr id="13" name="Text 11"/>
          <p:cNvSpPr/>
          <p:nvPr/>
        </p:nvSpPr>
        <p:spPr>
          <a:xfrm>
            <a:off x="8823960" y="331927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4 Stages</a:t>
            </a:r>
            <a:endParaRPr lang="en-US" sz="1500" dirty="0"/>
          </a:p>
        </p:txBody>
      </p:sp>
      <p:sp>
        <p:nvSpPr>
          <p:cNvPr id="14" name="Text 12"/>
          <p:cNvSpPr/>
          <p:nvPr/>
        </p:nvSpPr>
        <p:spPr>
          <a:xfrm>
            <a:off x="8823960" y="363016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Pipeline Trace • Step-by-step audit</a:t>
            </a:r>
            <a:endParaRPr lang="en-US" sz="900" dirty="0"/>
          </a:p>
        </p:txBody>
      </p:sp>
      <p:sp>
        <p:nvSpPr>
          <p:cNvPr id="15" name="Shape 13"/>
          <p:cNvSpPr/>
          <p:nvPr/>
        </p:nvSpPr>
        <p:spPr>
          <a:xfrm>
            <a:off x="8686800" y="4206240"/>
            <a:ext cx="2560320" cy="822960"/>
          </a:xfrm>
          <a:prstGeom prst="rect">
            <a:avLst/>
          </a:prstGeom>
          <a:solidFill>
            <a:srgbClr val="F1F5F9"/>
          </a:solidFill>
          <a:ln w="6350">
            <a:solidFill>
              <a:srgbClr val="CBD5E1"/>
            </a:solidFill>
            <a:prstDash val="solid"/>
          </a:ln>
        </p:spPr>
      </p:sp>
      <p:sp>
        <p:nvSpPr>
          <p:cNvPr id="16" name="Text 14"/>
          <p:cNvSpPr/>
          <p:nvPr/>
        </p:nvSpPr>
        <p:spPr>
          <a:xfrm>
            <a:off x="8823960" y="427939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Real-Time</a:t>
            </a:r>
            <a:endParaRPr lang="en-US" sz="1500" dirty="0"/>
          </a:p>
        </p:txBody>
      </p:sp>
      <p:sp>
        <p:nvSpPr>
          <p:cNvPr id="17" name="Text 15"/>
          <p:cNvSpPr/>
          <p:nvPr/>
        </p:nvSpPr>
        <p:spPr>
          <a:xfrm>
            <a:off x="8823960" y="459028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Threshold Tuner • Dynamic sliders</a:t>
            </a:r>
            <a:endParaRPr lang="en-US" sz="900" dirty="0"/>
          </a:p>
        </p:txBody>
      </p:sp>
      <p:sp>
        <p:nvSpPr>
          <p:cNvPr id="18" name="Shape 16"/>
          <p:cNvSpPr/>
          <p:nvPr/>
        </p:nvSpPr>
        <p:spPr>
          <a:xfrm>
            <a:off x="8686800" y="5166360"/>
            <a:ext cx="2560320" cy="822960"/>
          </a:xfrm>
          <a:prstGeom prst="rect">
            <a:avLst/>
          </a:prstGeom>
          <a:solidFill>
            <a:srgbClr val="F1F5F9"/>
          </a:solidFill>
          <a:ln w="6350">
            <a:solidFill>
              <a:srgbClr val="CBD5E1"/>
            </a:solidFill>
            <a:prstDash val="solid"/>
          </a:ln>
        </p:spPr>
      </p:sp>
      <p:sp>
        <p:nvSpPr>
          <p:cNvPr id="19" name="Text 17"/>
          <p:cNvSpPr/>
          <p:nvPr/>
        </p:nvSpPr>
        <p:spPr>
          <a:xfrm>
            <a:off x="8823960" y="523951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Executive</a:t>
            </a:r>
            <a:endParaRPr lang="en-US" sz="1500" dirty="0"/>
          </a:p>
        </p:txBody>
      </p:sp>
      <p:sp>
        <p:nvSpPr>
          <p:cNvPr id="20" name="Text 18"/>
          <p:cNvSpPr/>
          <p:nvPr/>
        </p:nvSpPr>
        <p:spPr>
          <a:xfrm>
            <a:off x="8823960" y="555040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KPI Dashboard • Recharts visualizer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32004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CONCLUSION &amp; ROADMAP</a:t>
            </a:r>
            <a:endParaRPr lang="en-US" sz="1000" dirty="0"/>
          </a:p>
        </p:txBody>
      </p:sp>
      <p:sp>
        <p:nvSpPr>
          <p:cNvPr id="3" name="Text 1"/>
          <p:cNvSpPr/>
          <p:nvPr/>
        </p:nvSpPr>
        <p:spPr>
          <a:xfrm>
            <a:off x="731520" y="685800"/>
            <a:ext cx="1069848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Technical Summary &amp; Strategic Roadmap</a:t>
            </a:r>
            <a:endParaRPr lang="en-US" sz="2400" dirty="0"/>
          </a:p>
        </p:txBody>
      </p:sp>
      <p:sp>
        <p:nvSpPr>
          <p:cNvPr id="4" name="Text 2"/>
          <p:cNvSpPr/>
          <p:nvPr/>
        </p:nvSpPr>
        <p:spPr>
          <a:xfrm>
            <a:off x="731520" y="1234440"/>
            <a:ext cx="10698480" cy="365760"/>
          </a:xfrm>
          <a:prstGeom prst="rect">
            <a:avLst/>
          </a:prstGeom>
          <a:noFill/>
          <a:ln/>
        </p:spPr>
        <p:txBody>
          <a:bodyPr wrap="square" rtlCol="0" anchor="ctr"/>
          <a:lstStyle/>
          <a:p>
            <a:pPr indent="0" marL="0">
              <a:buNone/>
            </a:pPr>
            <a:r>
              <a:rPr lang="en-US" sz="1300" dirty="0">
                <a:solidFill>
                  <a:srgbClr val="64748B"/>
                </a:solidFill>
                <a:latin typeface="Arial" pitchFamily="34" charset="0"/>
                <a:ea typeface="Arial" pitchFamily="34" charset="-122"/>
                <a:cs typeface="Arial" pitchFamily="34" charset="-120"/>
              </a:rPr>
              <a:t>Enterprise-Ready Agentic Architecture and Future Multi-Modal Extensions</a:t>
            </a:r>
            <a:endParaRPr lang="en-US" sz="1300" dirty="0"/>
          </a:p>
        </p:txBody>
      </p:sp>
      <p:sp>
        <p:nvSpPr>
          <p:cNvPr id="5" name="Shape 3"/>
          <p:cNvSpPr/>
          <p:nvPr/>
        </p:nvSpPr>
        <p:spPr>
          <a:xfrm>
            <a:off x="731520" y="1737360"/>
            <a:ext cx="7498080" cy="4572000"/>
          </a:xfrm>
          <a:prstGeom prst="rect">
            <a:avLst/>
          </a:prstGeom>
          <a:solidFill>
            <a:srgbClr val="FFFFFF"/>
          </a:solidFill>
          <a:ln w="12700">
            <a:solidFill>
              <a:srgbClr val="E2E8F0"/>
            </a:solidFill>
            <a:prstDash val="solid"/>
          </a:ln>
        </p:spPr>
      </p:sp>
      <p:sp>
        <p:nvSpPr>
          <p:cNvPr id="6" name="Text 4"/>
          <p:cNvSpPr/>
          <p:nvPr/>
        </p:nvSpPr>
        <p:spPr>
          <a:xfrm>
            <a:off x="1005840" y="1920240"/>
            <a:ext cx="6949440" cy="4114800"/>
          </a:xfrm>
          <a:prstGeom prst="rect">
            <a:avLst/>
          </a:prstGeom>
          <a:noFill/>
          <a:ln/>
        </p:spPr>
        <p:txBody>
          <a:bodyPr wrap="square" rtlCol="0" anchor="t"/>
          <a:lstStyle/>
          <a:p>
            <a:pPr marL="342900" indent="-342900">
              <a:buSzPct val="100000"/>
              <a:buChar char="•"/>
            </a:pPr>
            <a:r>
              <a:rPr lang="en-US" sz="1300" dirty="0">
                <a:solidFill>
                  <a:srgbClr val="1E293B"/>
                </a:solidFill>
                <a:latin typeface="Arial" pitchFamily="34" charset="0"/>
                <a:ea typeface="Arial" pitchFamily="34" charset="-122"/>
                <a:cs typeface="Arial" pitchFamily="34" charset="-120"/>
              </a:rPr>
              <a:t>Core Achievement: Engineered an auditable, multi-agent RAG pipeline delivering 74.1% deflection with zero safety escapes.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Local Vector Retrieval: Sub-millisecond performance without external cloud vector database dependencies.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Active Remediation Webhooks: Future integration with Okta and Jamf/Intune to automatically execute password resets.</a:t>
            </a:r>
            <a:endParaRPr lang="en-US" sz="1300" dirty="0"/>
          </a:p>
          <a:p>
            <a:pPr marL="342900" indent="-342900">
              <a:buSzPct val="100000"/>
              <a:buChar char="•"/>
            </a:pPr>
            <a:r>
              <a:rPr lang="en-US" sz="1300" dirty="0">
                <a:solidFill>
                  <a:srgbClr val="1E293B"/>
                </a:solidFill>
                <a:latin typeface="Arial" pitchFamily="34" charset="0"/>
                <a:ea typeface="Arial" pitchFamily="34" charset="-122"/>
                <a:cs typeface="Arial" pitchFamily="34" charset="-120"/>
              </a:rPr>
              <a:t>Multi-Modal Vision Diagnostics: Utilizing Gemini Vision so employees can upload photos of broken displays, swollen chassis, or BIOS errors.</a:t>
            </a:r>
            <a:endParaRPr lang="en-US" sz="1300" dirty="0"/>
          </a:p>
        </p:txBody>
      </p:sp>
      <p:sp>
        <p:nvSpPr>
          <p:cNvPr id="7" name="Shape 5"/>
          <p:cNvSpPr/>
          <p:nvPr/>
        </p:nvSpPr>
        <p:spPr>
          <a:xfrm>
            <a:off x="8503920" y="1737360"/>
            <a:ext cx="2926080" cy="4572000"/>
          </a:xfrm>
          <a:prstGeom prst="rect">
            <a:avLst/>
          </a:prstGeom>
          <a:solidFill>
            <a:srgbClr val="FFFFFF"/>
          </a:solidFill>
          <a:ln w="12700">
            <a:solidFill>
              <a:srgbClr val="E2E8F0"/>
            </a:solidFill>
            <a:prstDash val="solid"/>
          </a:ln>
        </p:spPr>
      </p:sp>
      <p:sp>
        <p:nvSpPr>
          <p:cNvPr id="8" name="Text 6"/>
          <p:cNvSpPr/>
          <p:nvPr/>
        </p:nvSpPr>
        <p:spPr>
          <a:xfrm>
            <a:off x="8686800" y="1920240"/>
            <a:ext cx="256032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KEY METRICS &amp; HIGHLIGHTS</a:t>
            </a:r>
            <a:endParaRPr lang="en-US" sz="1000" dirty="0"/>
          </a:p>
        </p:txBody>
      </p:sp>
      <p:sp>
        <p:nvSpPr>
          <p:cNvPr id="9" name="Shape 7"/>
          <p:cNvSpPr/>
          <p:nvPr/>
        </p:nvSpPr>
        <p:spPr>
          <a:xfrm>
            <a:off x="8686800" y="2286000"/>
            <a:ext cx="2560320" cy="822960"/>
          </a:xfrm>
          <a:prstGeom prst="rect">
            <a:avLst/>
          </a:prstGeom>
          <a:solidFill>
            <a:srgbClr val="F1F5F9"/>
          </a:solidFill>
          <a:ln w="6350">
            <a:solidFill>
              <a:srgbClr val="CBD5E1"/>
            </a:solidFill>
            <a:prstDash val="solid"/>
          </a:ln>
        </p:spPr>
      </p:sp>
      <p:sp>
        <p:nvSpPr>
          <p:cNvPr id="10" name="Text 8"/>
          <p:cNvSpPr/>
          <p:nvPr/>
        </p:nvSpPr>
        <p:spPr>
          <a:xfrm>
            <a:off x="8823960" y="235915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100%</a:t>
            </a:r>
            <a:endParaRPr lang="en-US" sz="1500" dirty="0"/>
          </a:p>
        </p:txBody>
      </p:sp>
      <p:sp>
        <p:nvSpPr>
          <p:cNvPr id="11" name="Text 9"/>
          <p:cNvSpPr/>
          <p:nvPr/>
        </p:nvSpPr>
        <p:spPr>
          <a:xfrm>
            <a:off x="8823960" y="267004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Safety Reliability • Zero hazard escapes</a:t>
            </a:r>
            <a:endParaRPr lang="en-US" sz="900" dirty="0"/>
          </a:p>
        </p:txBody>
      </p:sp>
      <p:sp>
        <p:nvSpPr>
          <p:cNvPr id="12" name="Shape 10"/>
          <p:cNvSpPr/>
          <p:nvPr/>
        </p:nvSpPr>
        <p:spPr>
          <a:xfrm>
            <a:off x="8686800" y="3246120"/>
            <a:ext cx="2560320" cy="822960"/>
          </a:xfrm>
          <a:prstGeom prst="rect">
            <a:avLst/>
          </a:prstGeom>
          <a:solidFill>
            <a:srgbClr val="F1F5F9"/>
          </a:solidFill>
          <a:ln w="6350">
            <a:solidFill>
              <a:srgbClr val="CBD5E1"/>
            </a:solidFill>
            <a:prstDash val="solid"/>
          </a:ln>
        </p:spPr>
      </p:sp>
      <p:sp>
        <p:nvSpPr>
          <p:cNvPr id="13" name="Text 11"/>
          <p:cNvSpPr/>
          <p:nvPr/>
        </p:nvSpPr>
        <p:spPr>
          <a:xfrm>
            <a:off x="8823960" y="331927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74.1%</a:t>
            </a:r>
            <a:endParaRPr lang="en-US" sz="1500" dirty="0"/>
          </a:p>
        </p:txBody>
      </p:sp>
      <p:sp>
        <p:nvSpPr>
          <p:cNvPr id="14" name="Text 12"/>
          <p:cNvSpPr/>
          <p:nvPr/>
        </p:nvSpPr>
        <p:spPr>
          <a:xfrm>
            <a:off x="8823960" y="363016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Deflection Rate • Autonomous triage</a:t>
            </a:r>
            <a:endParaRPr lang="en-US" sz="900" dirty="0"/>
          </a:p>
        </p:txBody>
      </p:sp>
      <p:sp>
        <p:nvSpPr>
          <p:cNvPr id="15" name="Shape 13"/>
          <p:cNvSpPr/>
          <p:nvPr/>
        </p:nvSpPr>
        <p:spPr>
          <a:xfrm>
            <a:off x="8686800" y="4206240"/>
            <a:ext cx="2560320" cy="822960"/>
          </a:xfrm>
          <a:prstGeom prst="rect">
            <a:avLst/>
          </a:prstGeom>
          <a:solidFill>
            <a:srgbClr val="F1F5F9"/>
          </a:solidFill>
          <a:ln w="6350">
            <a:solidFill>
              <a:srgbClr val="CBD5E1"/>
            </a:solidFill>
            <a:prstDash val="solid"/>
          </a:ln>
        </p:spPr>
      </p:sp>
      <p:sp>
        <p:nvSpPr>
          <p:cNvPr id="16" name="Text 14"/>
          <p:cNvSpPr/>
          <p:nvPr/>
        </p:nvSpPr>
        <p:spPr>
          <a:xfrm>
            <a:off x="8823960" y="427939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Webhooks</a:t>
            </a:r>
            <a:endParaRPr lang="en-US" sz="1500" dirty="0"/>
          </a:p>
        </p:txBody>
      </p:sp>
      <p:sp>
        <p:nvSpPr>
          <p:cNvPr id="17" name="Text 15"/>
          <p:cNvSpPr/>
          <p:nvPr/>
        </p:nvSpPr>
        <p:spPr>
          <a:xfrm>
            <a:off x="8823960" y="459028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Next Milestone • Active remediation</a:t>
            </a:r>
            <a:endParaRPr lang="en-US" sz="900" dirty="0"/>
          </a:p>
        </p:txBody>
      </p:sp>
      <p:sp>
        <p:nvSpPr>
          <p:cNvPr id="18" name="Shape 16"/>
          <p:cNvSpPr/>
          <p:nvPr/>
        </p:nvSpPr>
        <p:spPr>
          <a:xfrm>
            <a:off x="8686800" y="5166360"/>
            <a:ext cx="2560320" cy="822960"/>
          </a:xfrm>
          <a:prstGeom prst="rect">
            <a:avLst/>
          </a:prstGeom>
          <a:solidFill>
            <a:srgbClr val="F1F5F9"/>
          </a:solidFill>
          <a:ln w="6350">
            <a:solidFill>
              <a:srgbClr val="CBD5E1"/>
            </a:solidFill>
            <a:prstDash val="solid"/>
          </a:ln>
        </p:spPr>
      </p:sp>
      <p:sp>
        <p:nvSpPr>
          <p:cNvPr id="19" name="Text 17"/>
          <p:cNvSpPr/>
          <p:nvPr/>
        </p:nvSpPr>
        <p:spPr>
          <a:xfrm>
            <a:off x="8823960" y="5239512"/>
            <a:ext cx="2286000" cy="320040"/>
          </a:xfrm>
          <a:prstGeom prst="rect">
            <a:avLst/>
          </a:prstGeom>
          <a:noFill/>
          <a:ln/>
        </p:spPr>
        <p:txBody>
          <a:bodyPr wrap="square" rtlCol="0" anchor="ctr"/>
          <a:lstStyle/>
          <a:p>
            <a:pPr indent="0" marL="0">
              <a:buNone/>
            </a:pPr>
            <a:r>
              <a:rPr lang="en-US" sz="1500" b="1" dirty="0">
                <a:solidFill>
                  <a:srgbClr val="0F172A"/>
                </a:solidFill>
                <a:latin typeface="Arial" pitchFamily="34" charset="0"/>
                <a:ea typeface="Arial" pitchFamily="34" charset="-122"/>
                <a:cs typeface="Arial" pitchFamily="34" charset="-120"/>
              </a:rPr>
              <a:t>Gemini Vision</a:t>
            </a:r>
            <a:endParaRPr lang="en-US" sz="1500" dirty="0"/>
          </a:p>
        </p:txBody>
      </p:sp>
      <p:sp>
        <p:nvSpPr>
          <p:cNvPr id="20" name="Text 18"/>
          <p:cNvSpPr/>
          <p:nvPr/>
        </p:nvSpPr>
        <p:spPr>
          <a:xfrm>
            <a:off x="8823960" y="5550408"/>
            <a:ext cx="2286000" cy="32004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Vision Extension • Photo diagnostics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IT Helpdesk Console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IT Helpdesk Assistant</dc:title>
  <dc:subject>Agentic RAG &amp; Decision Routing Final Project Submission</dc:subject>
  <dc:creator>Enterprise IT Architecture Team</dc:creator>
  <cp:lastModifiedBy>Enterprise IT Architecture Team</cp:lastModifiedBy>
  <cp:revision>1</cp:revision>
  <dcterms:created xsi:type="dcterms:W3CDTF">2026-09-09T09:55:35Z</dcterms:created>
  <dcterms:modified xsi:type="dcterms:W3CDTF">2026-09-09T09:55:35Z</dcterms:modified>
</cp:coreProperties>
</file>